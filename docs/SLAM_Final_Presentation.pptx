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343" r:id="rId2"/>
    <p:sldId id="344" r:id="rId3"/>
    <p:sldId id="345" r:id="rId4"/>
    <p:sldId id="346" r:id="rId5"/>
    <p:sldId id="347" r:id="rId6"/>
    <p:sldId id="348" r:id="rId7"/>
    <p:sldId id="349" r:id="rId8"/>
    <p:sldId id="350" r:id="rId9"/>
    <p:sldId id="351" r:id="rId10"/>
    <p:sldId id="352" r:id="rId11"/>
    <p:sldId id="354" r:id="rId12"/>
    <p:sldId id="35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7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9E966F-68A5-4024-84BA-261849683078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9FCE45-89DD-4831-A395-12C7432259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069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70CEC-55EC-0507-6079-236AA2B26C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42B163-0884-6983-B20C-6D9D9C116B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D243A-4FC0-4902-9A5E-DD50F33AD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44EF-F98D-4D5A-A8E4-4EAFD7B30566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BB8AE-E57D-AF1E-0A6C-DF28F0F13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82434-27D8-0C39-4057-D9B15B3A1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D7083-0904-4F9E-B22A-CA784F124058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C81508-DE28-C07B-E796-0282EF7BAC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037"/>
          <a:stretch/>
        </p:blipFill>
        <p:spPr>
          <a:xfrm>
            <a:off x="34831" y="-8466"/>
            <a:ext cx="1566957" cy="54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67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21C22-747E-6888-3B14-18E5F47DB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4ACC5-412D-360A-632C-5F738B9DF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84401-4C02-3B26-9735-866FDBA15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44EF-F98D-4D5A-A8E4-4EAFD7B30566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41B21-A3DA-5377-F1FF-3B0519D74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9ED12-32BF-231B-5FB3-CC7AE91F4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D7083-0904-4F9E-B22A-CA784F124058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DE48E8-9817-31BA-0A1B-C54D1FCEF4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037"/>
          <a:stretch/>
        </p:blipFill>
        <p:spPr>
          <a:xfrm>
            <a:off x="34831" y="-8466"/>
            <a:ext cx="1566957" cy="54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028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CDCA4-2167-ED00-4F0D-268F2560A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CB09E7-B952-E3EE-B85A-1AB0E1C073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C6FFC-898B-DCAE-2B5E-3F3A1BA10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44EF-F98D-4D5A-A8E4-4EAFD7B30566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9CA11-17A7-46D6-5782-A3A5ADB98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CDDA6-1995-9F88-9AF4-47B2FB503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D7083-0904-4F9E-B22A-CA784F124058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687DB3-9ECF-D274-5E6A-14810DE0BE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037"/>
          <a:stretch/>
        </p:blipFill>
        <p:spPr>
          <a:xfrm>
            <a:off x="34831" y="-8466"/>
            <a:ext cx="1566957" cy="54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575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B5F18-58C4-91B0-3B7E-B630B616D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76AE7-6D6F-6BD2-C342-DA5955F69C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C16B4B-94B8-A241-9896-0A0C3D6DB7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5BADE-DA0A-A9A5-D623-3F74F3DD8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44EF-F98D-4D5A-A8E4-4EAFD7B30566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468705-7F72-C730-704F-0B1205808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91F9C9-00EF-78C4-9A37-CE2C57B7F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D7083-0904-4F9E-B22A-CA784F124058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EC3488-2FA4-47C6-DC08-59D6281B04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037"/>
          <a:stretch/>
        </p:blipFill>
        <p:spPr>
          <a:xfrm>
            <a:off x="34831" y="-8466"/>
            <a:ext cx="1566957" cy="54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384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7BCDA-3395-7DD7-E59F-26F6C8AA0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97BEA-807D-9AE1-F0C5-E4A7FFE35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E3B7B6-49D5-7CDB-399F-018CAB06E8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ED45BA-6FAB-010F-AF39-E29EFC96EE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A6D03F-9877-C12D-DB37-FC4D907BC7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3AB7B2-11FF-05EB-9A7F-3CE6405A0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44EF-F98D-4D5A-A8E4-4EAFD7B30566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BAE7DD-CC9C-276A-385E-0CE176C2B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ADA17-85F5-1C5C-7508-E4E464FDA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D7083-0904-4F9E-B22A-CA784F124058}" type="slidenum">
              <a:rPr lang="en-IN" smtClean="0"/>
              <a:t>‹#›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F8BEEE2-F9E1-C8EF-A70B-E63325982B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037"/>
          <a:stretch/>
        </p:blipFill>
        <p:spPr>
          <a:xfrm>
            <a:off x="34831" y="-8466"/>
            <a:ext cx="1566957" cy="54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14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7AA4-99ED-84D4-49A7-20ED6C52B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B1DA1F-6FA6-E8B5-929A-8E4D9D81B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44EF-F98D-4D5A-A8E4-4EAFD7B30566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91FA7E-7048-ED18-FF34-FB4B1D993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5FA8EC-BE9D-7652-2543-434D25680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D7083-0904-4F9E-B22A-CA784F124058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005A11-F3E7-367A-2A00-2F8C796E4E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037"/>
          <a:stretch/>
        </p:blipFill>
        <p:spPr>
          <a:xfrm>
            <a:off x="34831" y="-8466"/>
            <a:ext cx="1566957" cy="54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265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C1151A-0520-97D2-1724-6E390F559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44EF-F98D-4D5A-A8E4-4EAFD7B30566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F92F59-091C-BE55-146B-2E08C8FD3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DCCB7-0143-3094-B94B-4E1A2B268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D7083-0904-4F9E-B22A-CA784F124058}" type="slidenum">
              <a:rPr lang="en-IN" smtClean="0"/>
              <a:t>‹#›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68DC03-CA8F-DCE1-3090-D03F330EA5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037"/>
          <a:stretch/>
        </p:blipFill>
        <p:spPr>
          <a:xfrm>
            <a:off x="34831" y="-8466"/>
            <a:ext cx="1566957" cy="54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326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274AB-6FDE-0422-AE37-388F34C42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3BFBA-B2ED-7436-A0B4-A4732F762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4ABB1D-BD05-F90E-4546-2803E0E0DA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7E9097-74C0-8493-71C9-BE4AFFFC8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44EF-F98D-4D5A-A8E4-4EAFD7B30566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8147C1-7289-39F0-D1A1-742879C24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A1F0DE-D791-D899-DFDE-6237D042C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D7083-0904-4F9E-B22A-CA784F124058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EDE128-6128-B6B1-0AEA-31AEDB8CEC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037"/>
          <a:stretch/>
        </p:blipFill>
        <p:spPr>
          <a:xfrm>
            <a:off x="34831" y="-8466"/>
            <a:ext cx="1566957" cy="54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06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0F019-269C-5D49-F7C5-045D9B048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03FB6D-D153-C981-EEAA-7399679A49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4BF6BB-BF59-B5CF-EC01-65B67824A0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477824-E50B-7C6A-3B51-DD1A49172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44EF-F98D-4D5A-A8E4-4EAFD7B30566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3B8CDF-9308-6F8E-DEED-CBB7EB6A3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F3B5A9-8406-7090-A1EB-1E86229E2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D7083-0904-4F9E-B22A-CA784F124058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6C8FC53-126F-7574-27FA-06275B3D4E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037"/>
          <a:stretch/>
        </p:blipFill>
        <p:spPr>
          <a:xfrm>
            <a:off x="34831" y="-8466"/>
            <a:ext cx="1566957" cy="54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226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D0364-0184-4245-5216-89CF2CD81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7D3A61-E72B-315F-72CA-6F05C4C02E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06A47-A5C5-3403-89D2-0EB4E8376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44EF-F98D-4D5A-A8E4-4EAFD7B30566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0E765-0D4D-7017-755B-D6768ED14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982F5-D4EA-18AE-B48F-19718CFCE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D7083-0904-4F9E-B22A-CA784F124058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117C86-1EEF-6852-B477-DC4A8D7490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037"/>
          <a:stretch/>
        </p:blipFill>
        <p:spPr>
          <a:xfrm>
            <a:off x="34831" y="-8466"/>
            <a:ext cx="1566957" cy="54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59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9199E4-D8D2-843F-2AAB-7B3A926660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73555E-1866-F878-2BFC-70F194B988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6EBC1-08AA-6392-1C27-F7FB34752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744EF-F98D-4D5A-A8E4-4EAFD7B30566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86A7B2-6DA4-0E31-42F7-9AAA15623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92BC8-D5D4-5F09-477E-81A62CAF0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D7083-0904-4F9E-B22A-CA784F124058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B4E310-C5BF-8FD1-11A9-7A80F528DF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037"/>
          <a:stretch/>
        </p:blipFill>
        <p:spPr>
          <a:xfrm>
            <a:off x="34831" y="-8466"/>
            <a:ext cx="1566957" cy="54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007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18A39D-0E60-950C-C67E-241EFC87C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010A3C-28DD-FD0F-3FC7-3B21BC4073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19700-01F8-2E71-BD78-55C6E8422A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B744EF-F98D-4D5A-A8E4-4EAFD7B30566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EDDB4-1788-0DD0-0DA2-0716CB492A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F9737-5E73-5C9C-4BAB-DCB256CA8C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5D7083-0904-4F9E-B22A-CA784F1240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012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Box 3">
            <a:extLst>
              <a:ext uri="{FF2B5EF4-FFF2-40B4-BE49-F238E27FC236}">
                <a16:creationId xmlns:a16="http://schemas.microsoft.com/office/drawing/2014/main" id="{67EDEFE9-66D1-FDFD-C52A-5D42180EE3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1219200"/>
            <a:ext cx="8763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dirty="0">
                <a:latin typeface="Aptos Black" panose="020B0004020202020204" pitchFamily="34" charset="0"/>
                <a:cs typeface="Times New Roman" panose="02020603050405020304" pitchFamily="18" charset="0"/>
              </a:rPr>
              <a:t>Department of Computer science and Engineering</a:t>
            </a:r>
          </a:p>
        </p:txBody>
      </p:sp>
      <p:pic>
        <p:nvPicPr>
          <p:cNvPr id="4099" name="Picture 4">
            <a:extLst>
              <a:ext uri="{FF2B5EF4-FFF2-40B4-BE49-F238E27FC236}">
                <a16:creationId xmlns:a16="http://schemas.microsoft.com/office/drawing/2014/main" id="{26F27727-A2D4-E2F4-C690-D5C9F73A3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63" y="0"/>
            <a:ext cx="12085637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C1C761DA-C6E2-D1F9-816F-3EEB5E10FD96}"/>
              </a:ext>
            </a:extLst>
          </p:cNvPr>
          <p:cNvSpPr txBox="1">
            <a:spLocks/>
          </p:cNvSpPr>
          <p:nvPr/>
        </p:nvSpPr>
        <p:spPr>
          <a:xfrm>
            <a:off x="228600" y="1865313"/>
            <a:ext cx="11471275" cy="173990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45700" rIns="91425" bIns="4570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sz="4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r>
              <a:rPr lang="en-IN" sz="4800" dirty="0">
                <a:solidFill>
                  <a:schemeClr val="tx1"/>
                </a:solidFill>
              </a:rPr>
              <a:t>MAJOR PROJECT PHASE-I - 22CSP69</a:t>
            </a:r>
            <a:endParaRPr lang="en-GB" sz="4800" kern="0" dirty="0">
              <a:solidFill>
                <a:schemeClr val="tx1"/>
              </a:solidFill>
              <a:latin typeface="+mj-lt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ctr"/>
            <a:r>
              <a:rPr lang="en-US" sz="2600" kern="0" dirty="0">
                <a:solidFill>
                  <a:schemeClr val="tx1"/>
                </a:solidFill>
                <a:latin typeface="+mj-lt"/>
                <a:ea typeface="ADLaM Display" panose="02010000000000000000" pitchFamily="2" charset="0"/>
                <a:cs typeface="ADLaM Display" panose="02010000000000000000" pitchFamily="2" charset="0"/>
              </a:rPr>
              <a:t>Monochromatic Monocular SLAM with Sensor-Aware Preprocessing</a:t>
            </a:r>
          </a:p>
          <a:p>
            <a:pPr algn="ctr"/>
            <a:r>
              <a:rPr lang="en-US" sz="2600" kern="0" dirty="0">
                <a:solidFill>
                  <a:schemeClr val="tx1"/>
                </a:solidFill>
                <a:latin typeface="+mj-lt"/>
                <a:ea typeface="ADLaM Display" panose="02010000000000000000" pitchFamily="2" charset="0"/>
                <a:cs typeface="ADLaM Display" panose="02010000000000000000" pitchFamily="2" charset="0"/>
              </a:rPr>
              <a:t> and CNN/</a:t>
            </a:r>
            <a:r>
              <a:rPr lang="en-US" sz="2600" kern="0" dirty="0" err="1">
                <a:solidFill>
                  <a:schemeClr val="tx1"/>
                </a:solidFill>
                <a:latin typeface="+mj-lt"/>
                <a:ea typeface="ADLaM Display" panose="02010000000000000000" pitchFamily="2" charset="0"/>
                <a:cs typeface="ADLaM Display" panose="02010000000000000000" pitchFamily="2" charset="0"/>
              </a:rPr>
              <a:t>ViT</a:t>
            </a:r>
            <a:r>
              <a:rPr lang="en-US" sz="2600" kern="0" dirty="0">
                <a:solidFill>
                  <a:schemeClr val="tx1"/>
                </a:solidFill>
                <a:latin typeface="+mj-lt"/>
                <a:ea typeface="ADLaM Display" panose="02010000000000000000" pitchFamily="2" charset="0"/>
                <a:cs typeface="ADLaM Display" panose="02010000000000000000" pitchFamily="2" charset="0"/>
              </a:rPr>
              <a:t>-based Loop Closure Detection</a:t>
            </a:r>
            <a:br>
              <a:rPr lang="en-GB" sz="2600" kern="0" dirty="0">
                <a:solidFill>
                  <a:schemeClr val="tx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endParaRPr lang="en-GB" sz="2600" kern="0" dirty="0">
              <a:solidFill>
                <a:schemeClr val="tx1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4101" name="TextBox 6">
            <a:extLst>
              <a:ext uri="{FF2B5EF4-FFF2-40B4-BE49-F238E27FC236}">
                <a16:creationId xmlns:a16="http://schemas.microsoft.com/office/drawing/2014/main" id="{A1946A95-F09F-9A82-F112-85115C1761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537" y="4568895"/>
            <a:ext cx="3509159" cy="14450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ts val="600"/>
              </a:spcBef>
              <a:buClr>
                <a:srgbClr val="4472C4"/>
              </a:buClr>
              <a:buSzPct val="70000"/>
              <a:buFont typeface="Wingdings" panose="05000000000000000000" pitchFamily="2" charset="2"/>
              <a:buNone/>
            </a:pPr>
            <a:r>
              <a:rPr lang="en-GB" altLang="en-US" sz="1700" b="1" u="sng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Presentation By:</a:t>
            </a:r>
          </a:p>
          <a:p>
            <a:pPr algn="ctr">
              <a:buNone/>
            </a:pP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Anish Bharadwaj | 1NT23CS024</a:t>
            </a:r>
          </a:p>
          <a:p>
            <a:pPr algn="ctr">
              <a:buNone/>
            </a:pP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Dhanush </a:t>
            </a:r>
            <a:r>
              <a:rPr lang="en-US" sz="1700" b="1" dirty="0" err="1">
                <a:latin typeface="Cambria" panose="02040503050406030204" pitchFamily="18" charset="0"/>
                <a:ea typeface="Cambria" panose="02040503050406030204" pitchFamily="18" charset="0"/>
              </a:rPr>
              <a:t>Paturu</a:t>
            </a: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 | 1NT23CS060</a:t>
            </a:r>
          </a:p>
          <a:p>
            <a:pPr algn="ctr">
              <a:buNone/>
            </a:pP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Dhruva P S | 1NT23CS064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EA53FE-37BF-EE42-A37D-5EB31261A6FA}"/>
              </a:ext>
            </a:extLst>
          </p:cNvPr>
          <p:cNvSpPr txBox="1"/>
          <p:nvPr/>
        </p:nvSpPr>
        <p:spPr>
          <a:xfrm>
            <a:off x="8153400" y="4568895"/>
            <a:ext cx="3294063" cy="11541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defRPr/>
            </a:pPr>
            <a:r>
              <a:rPr lang="en-GB" sz="1600" b="1" u="sng" dirty="0">
                <a:solidFill>
                  <a:srgbClr val="0000CC"/>
                </a:solidFill>
              </a:rPr>
              <a:t>Guided By:</a:t>
            </a:r>
          </a:p>
          <a:p>
            <a:pPr algn="ctr"/>
            <a:r>
              <a:rPr lang="en-US" sz="1600" b="1" dirty="0"/>
              <a:t>Dr. Krishna Rao Venkatesh</a:t>
            </a:r>
          </a:p>
          <a:p>
            <a:pPr algn="ctr"/>
            <a:r>
              <a:rPr lang="en-US" sz="1600" b="1" dirty="0"/>
              <a:t>Professor, Dept. of CSE, NMIT</a:t>
            </a:r>
          </a:p>
          <a:p>
            <a:pPr algn="ctr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None/>
              <a:defRPr/>
            </a:pPr>
            <a:endParaRPr lang="en-GB" sz="1600" b="1" dirty="0">
              <a:latin typeface="+mn-lt"/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866756A-2678-4559-4AFD-50C90C83C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AY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Content Placeholder 2">
            <a:extLst>
              <a:ext uri="{FF2B5EF4-FFF2-40B4-BE49-F238E27FC236}">
                <a16:creationId xmlns:a16="http://schemas.microsoft.com/office/drawing/2014/main" id="{ECD8EE09-FF59-BA41-AB81-D6762823A4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I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454662-6C7F-B8FD-0666-F041C4B61E1A}"/>
              </a:ext>
            </a:extLst>
          </p:cNvPr>
          <p:cNvSpPr/>
          <p:nvPr/>
        </p:nvSpPr>
        <p:spPr>
          <a:xfrm>
            <a:off x="-7938" y="1358900"/>
            <a:ext cx="12199938" cy="4984750"/>
          </a:xfrm>
          <a:prstGeom prst="rect">
            <a:avLst/>
          </a:prstGeom>
          <a:solidFill>
            <a:schemeClr val="bg1"/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IN" sz="2800" b="1" dirty="0">
                <a:solidFill>
                  <a:schemeClr val="bg2">
                    <a:lumMod val="10000"/>
                  </a:schemeClr>
                </a:solidFill>
                <a:latin typeface="Lucida Bright" panose="02040602050505020304" pitchFamily="18" charset="0"/>
              </a:rPr>
              <a:t>Background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IN" sz="2800" b="1" dirty="0">
                <a:solidFill>
                  <a:schemeClr val="bg2">
                    <a:lumMod val="10000"/>
                  </a:schemeClr>
                </a:solidFill>
                <a:latin typeface="Lucida Bright" panose="02040602050505020304" pitchFamily="18" charset="0"/>
              </a:rPr>
              <a:t>Research motivation and Problem Statement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IN" sz="2800" b="1" dirty="0">
                <a:solidFill>
                  <a:schemeClr val="bg2">
                    <a:lumMod val="10000"/>
                  </a:schemeClr>
                </a:solidFill>
                <a:latin typeface="Lucida Bright" panose="02040602050505020304" pitchFamily="18" charset="0"/>
              </a:rPr>
              <a:t>Literature Survey and Gap Analysis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IN" sz="2800" b="1" dirty="0">
                <a:solidFill>
                  <a:schemeClr val="bg2">
                    <a:lumMod val="10000"/>
                  </a:schemeClr>
                </a:solidFill>
                <a:latin typeface="Lucida Bright" panose="02040602050505020304" pitchFamily="18" charset="0"/>
              </a:rPr>
              <a:t>Research objectives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IN" sz="2800" b="1" dirty="0">
                <a:solidFill>
                  <a:schemeClr val="bg2">
                    <a:lumMod val="10000"/>
                  </a:schemeClr>
                </a:solidFill>
                <a:latin typeface="Lucida Bright" panose="02040602050505020304" pitchFamily="18" charset="0"/>
              </a:rPr>
              <a:t>Functional Requirements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IN" sz="2800" b="1" dirty="0">
                <a:solidFill>
                  <a:schemeClr val="bg2">
                    <a:lumMod val="10000"/>
                  </a:schemeClr>
                </a:solidFill>
                <a:latin typeface="Lucida Bright" panose="02040602050505020304" pitchFamily="18" charset="0"/>
              </a:rPr>
              <a:t>Results and Analysis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IN" sz="2800" b="1" dirty="0">
                <a:solidFill>
                  <a:schemeClr val="bg2">
                    <a:lumMod val="10000"/>
                  </a:schemeClr>
                </a:solidFill>
                <a:latin typeface="Lucida Bright" panose="02040602050505020304" pitchFamily="18" charset="0"/>
              </a:rPr>
              <a:t>References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endParaRPr lang="en-IN" sz="2800" b="1" dirty="0">
              <a:solidFill>
                <a:schemeClr val="bg2">
                  <a:lumMod val="10000"/>
                </a:schemeClr>
              </a:solidFill>
              <a:latin typeface="Lucida Bright" panose="02040602050505020304" pitchFamily="18" charset="0"/>
            </a:endParaRPr>
          </a:p>
        </p:txBody>
      </p:sp>
      <p:sp>
        <p:nvSpPr>
          <p:cNvPr id="5124" name="TextBox 5">
            <a:extLst>
              <a:ext uri="{FF2B5EF4-FFF2-40B4-BE49-F238E27FC236}">
                <a16:creationId xmlns:a16="http://schemas.microsoft.com/office/drawing/2014/main" id="{4A956D8E-DC9B-5AD5-C56A-623DFF6D0F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573088"/>
            <a:ext cx="61214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Tahoma" panose="020B0604030504040204" pitchFamily="34" charset="0"/>
                <a:cs typeface="Tahoma" panose="020B0604030504040204" pitchFamily="34" charset="0"/>
              </a:rPr>
              <a:t>TABLE OF CONTENS</a:t>
            </a:r>
          </a:p>
        </p:txBody>
      </p:sp>
      <p:sp>
        <p:nvSpPr>
          <p:cNvPr id="2" name="Footer Placeholder 8">
            <a:extLst>
              <a:ext uri="{FF2B5EF4-FFF2-40B4-BE49-F238E27FC236}">
                <a16:creationId xmlns:a16="http://schemas.microsoft.com/office/drawing/2014/main" id="{AAD61A45-E626-50FF-2A90-52237F8F9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AY 2025-2026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98DB4-987F-CE14-F471-6B3EDDE49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7790"/>
            <a:ext cx="10515600" cy="1325563"/>
          </a:xfrm>
        </p:spPr>
        <p:txBody>
          <a:bodyPr/>
          <a:lstStyle/>
          <a:p>
            <a:pPr algn="ctr"/>
            <a:r>
              <a:rPr lang="en-IN" b="1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1162E-6F82-3E23-817B-224FEA921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314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What is SLAM?</a:t>
            </a:r>
          </a:p>
          <a:p>
            <a:pPr marL="0" indent="0">
              <a:buNone/>
            </a:pPr>
            <a:r>
              <a:rPr lang="en-US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Localization and Mapping — a robot builds a map of an unknown environment and estimates its own position at the same time, using only a camera. No GPS. No depth sensor.</a:t>
            </a:r>
            <a:endParaRPr lang="en-US" dirty="0"/>
          </a:p>
          <a:p>
            <a:endParaRPr lang="en-IN" dirty="0"/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A7AD23D7-DA66-8424-997D-4BFF5B85F1BD}"/>
              </a:ext>
            </a:extLst>
          </p:cNvPr>
          <p:cNvSpPr/>
          <p:nvPr/>
        </p:nvSpPr>
        <p:spPr>
          <a:xfrm>
            <a:off x="1974641" y="3255264"/>
            <a:ext cx="2697480" cy="347472"/>
          </a:xfrm>
          <a:prstGeom prst="rect">
            <a:avLst/>
          </a:prstGeom>
          <a:solidFill>
            <a:schemeClr val="tx1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AFDEFB89-F6B0-CDC9-5E66-83971708C65C}"/>
              </a:ext>
            </a:extLst>
          </p:cNvPr>
          <p:cNvSpPr/>
          <p:nvPr/>
        </p:nvSpPr>
        <p:spPr>
          <a:xfrm>
            <a:off x="1974641" y="325526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Monocular SLAM</a:t>
            </a:r>
            <a:endParaRPr lang="en-US" sz="1200" dirty="0"/>
          </a:p>
        </p:txBody>
      </p:sp>
      <p:sp>
        <p:nvSpPr>
          <p:cNvPr id="6" name="Shape 8">
            <a:extLst>
              <a:ext uri="{FF2B5EF4-FFF2-40B4-BE49-F238E27FC236}">
                <a16:creationId xmlns:a16="http://schemas.microsoft.com/office/drawing/2014/main" id="{910FE866-5EEF-2E07-ED35-2320C229D78E}"/>
              </a:ext>
            </a:extLst>
          </p:cNvPr>
          <p:cNvSpPr/>
          <p:nvPr/>
        </p:nvSpPr>
        <p:spPr>
          <a:xfrm>
            <a:off x="1974641" y="3602736"/>
            <a:ext cx="2697480" cy="2697480"/>
          </a:xfrm>
          <a:prstGeom prst="rect">
            <a:avLst/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F66208F5-9E14-C42E-DAFB-33FC8030CD60}"/>
              </a:ext>
            </a:extLst>
          </p:cNvPr>
          <p:cNvSpPr/>
          <p:nvPr/>
        </p:nvSpPr>
        <p:spPr>
          <a:xfrm>
            <a:off x="2066081" y="3666744"/>
            <a:ext cx="2514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US" sz="1400" dirty="0"/>
              <a:t>Uses a single monochromatic camera — no </a:t>
            </a:r>
            <a:r>
              <a:rPr lang="en-US" sz="1400" dirty="0" err="1"/>
              <a:t>colour</a:t>
            </a:r>
            <a:r>
              <a:rPr lang="en-US" sz="1400" dirty="0"/>
              <a:t> filter, no depth sensor. Cost-effective and suited to embedded robots</a:t>
            </a: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1400" dirty="0"/>
          </a:p>
        </p:txBody>
      </p:sp>
      <p:sp>
        <p:nvSpPr>
          <p:cNvPr id="8" name="Shape 10">
            <a:extLst>
              <a:ext uri="{FF2B5EF4-FFF2-40B4-BE49-F238E27FC236}">
                <a16:creationId xmlns:a16="http://schemas.microsoft.com/office/drawing/2014/main" id="{C0EC0473-2AD6-980B-618D-3CD8497E61BC}"/>
              </a:ext>
            </a:extLst>
          </p:cNvPr>
          <p:cNvSpPr/>
          <p:nvPr/>
        </p:nvSpPr>
        <p:spPr>
          <a:xfrm>
            <a:off x="4809281" y="3255264"/>
            <a:ext cx="2697480" cy="34747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C881784B-BDF6-4269-7603-E16F55FB6420}"/>
              </a:ext>
            </a:extLst>
          </p:cNvPr>
          <p:cNvSpPr/>
          <p:nvPr/>
        </p:nvSpPr>
        <p:spPr>
          <a:xfrm>
            <a:off x="4809281" y="325526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Monochromatic Cameras</a:t>
            </a:r>
            <a:endParaRPr lang="en-US" sz="1200" dirty="0"/>
          </a:p>
        </p:txBody>
      </p:sp>
      <p:sp>
        <p:nvSpPr>
          <p:cNvPr id="10" name="Shape 12">
            <a:extLst>
              <a:ext uri="{FF2B5EF4-FFF2-40B4-BE49-F238E27FC236}">
                <a16:creationId xmlns:a16="http://schemas.microsoft.com/office/drawing/2014/main" id="{30880AA8-6CD1-B477-CC9E-2DD3B3C64038}"/>
              </a:ext>
            </a:extLst>
          </p:cNvPr>
          <p:cNvSpPr/>
          <p:nvPr/>
        </p:nvSpPr>
        <p:spPr>
          <a:xfrm>
            <a:off x="4809281" y="3602736"/>
            <a:ext cx="2697480" cy="2697480"/>
          </a:xfrm>
          <a:prstGeom prst="rect">
            <a:avLst/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Text 13">
            <a:extLst>
              <a:ext uri="{FF2B5EF4-FFF2-40B4-BE49-F238E27FC236}">
                <a16:creationId xmlns:a16="http://schemas.microsoft.com/office/drawing/2014/main" id="{B9A0EC27-E08F-9E33-C6A2-146BD56F7329}"/>
              </a:ext>
            </a:extLst>
          </p:cNvPr>
          <p:cNvSpPr/>
          <p:nvPr/>
        </p:nvSpPr>
        <p:spPr>
          <a:xfrm>
            <a:off x="4900721" y="3666744"/>
            <a:ext cx="2514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Bayer colour filter. Higher resolution, better low-light sensitivity, lower cost. Increasingly used in industrial robots.</a:t>
            </a:r>
            <a:endParaRPr lang="en-US" sz="1400" dirty="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86215349-5B73-C548-F494-25C3C0B45E52}"/>
              </a:ext>
            </a:extLst>
          </p:cNvPr>
          <p:cNvSpPr/>
          <p:nvPr/>
        </p:nvSpPr>
        <p:spPr>
          <a:xfrm>
            <a:off x="7643921" y="3255264"/>
            <a:ext cx="2697480" cy="347472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B3D8F162-D880-D3FF-5F64-4F03E5621B88}"/>
              </a:ext>
            </a:extLst>
          </p:cNvPr>
          <p:cNvSpPr/>
          <p:nvPr/>
        </p:nvSpPr>
        <p:spPr>
          <a:xfrm>
            <a:off x="7643921" y="325526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Gap</a:t>
            </a:r>
            <a:endParaRPr lang="en-US" sz="1200" dirty="0"/>
          </a:p>
        </p:txBody>
      </p:sp>
      <p:sp>
        <p:nvSpPr>
          <p:cNvPr id="14" name="Shape 16">
            <a:extLst>
              <a:ext uri="{FF2B5EF4-FFF2-40B4-BE49-F238E27FC236}">
                <a16:creationId xmlns:a16="http://schemas.microsoft.com/office/drawing/2014/main" id="{0B21318E-24D3-1FA0-36C1-FD3D7BD9FE53}"/>
              </a:ext>
            </a:extLst>
          </p:cNvPr>
          <p:cNvSpPr/>
          <p:nvPr/>
        </p:nvSpPr>
        <p:spPr>
          <a:xfrm>
            <a:off x="7643921" y="3602736"/>
            <a:ext cx="2697480" cy="2697480"/>
          </a:xfrm>
          <a:prstGeom prst="rect">
            <a:avLst/>
          </a:prstGeom>
          <a:solidFill>
            <a:srgbClr val="F5F5F5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7">
            <a:extLst>
              <a:ext uri="{FF2B5EF4-FFF2-40B4-BE49-F238E27FC236}">
                <a16:creationId xmlns:a16="http://schemas.microsoft.com/office/drawing/2014/main" id="{108F5779-BB4C-AAF0-9B44-C8DB85CBB1A6}"/>
              </a:ext>
            </a:extLst>
          </p:cNvPr>
          <p:cNvSpPr/>
          <p:nvPr/>
        </p:nvSpPr>
        <p:spPr>
          <a:xfrm>
            <a:off x="7735361" y="3666744"/>
            <a:ext cx="2514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existing SLAM systems apply a greyscale formula designed for colour cameras to monochromatic input — ignoring sensor characteristics.</a:t>
            </a:r>
          </a:p>
          <a:p>
            <a:pPr algn="just"/>
            <a:r>
              <a:rPr lang="en-US" sz="1400" dirty="0"/>
              <a:t>Most SLAM research targets autonomous vehicles with high-end hardware. This project addresses cost-constrained consumer and industrial robots</a:t>
            </a:r>
            <a:endParaRPr lang="en-US" sz="1400" dirty="0">
              <a:solidFill>
                <a:srgbClr val="1E1E1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19356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C4CD6-227B-11FE-DD21-830027D91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908" y="19821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Problem Statement &amp; Challenges in Existing Approaches</a:t>
            </a:r>
            <a:endParaRPr lang="en-IN" sz="3600" b="1" dirty="0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F76C114F-BA23-7FBE-34BF-535E57C4F568}"/>
              </a:ext>
            </a:extLst>
          </p:cNvPr>
          <p:cNvSpPr/>
          <p:nvPr/>
        </p:nvSpPr>
        <p:spPr>
          <a:xfrm>
            <a:off x="779491" y="2067690"/>
            <a:ext cx="5394726" cy="284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IN" dirty="0"/>
              <a:t>Implement a real-time monocular SLAM system optimised for monochromatic cameras, with sensor-aware preprocessing and deep learning-based loop closure — targeting cost-constrained embedded robots.</a:t>
            </a:r>
          </a:p>
          <a:p>
            <a:r>
              <a:rPr lang="en-IN" b="1" dirty="0"/>
              <a:t>Gaps in Existing Work (Motivation)</a:t>
            </a: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Existing systems apply colour-camera greyscale formulae to monochromatic input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ORB descriptors fail in visually aliased environments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No edge hardware benchmark for CNN vs </a:t>
            </a:r>
            <a:r>
              <a:rPr lang="en-IN" dirty="0" err="1"/>
              <a:t>ViT</a:t>
            </a:r>
            <a:r>
              <a:rPr lang="en-IN" dirty="0"/>
              <a:t> loop closure exists</a:t>
            </a:r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BEBFD193-7332-27EB-A1A6-3332E7AC66FE}"/>
              </a:ext>
            </a:extLst>
          </p:cNvPr>
          <p:cNvSpPr/>
          <p:nvPr/>
        </p:nvSpPr>
        <p:spPr>
          <a:xfrm>
            <a:off x="6439143" y="2115149"/>
            <a:ext cx="4908365" cy="2624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 algn="just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Monochromatic cameras used in industrial robotics and drones</a:t>
            </a:r>
          </a:p>
          <a:p>
            <a:pPr marL="285750" indent="-285750" algn="just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published benchmark for mono-specific SLAM preprocessing</a:t>
            </a:r>
          </a:p>
          <a:p>
            <a:pPr marL="285750" indent="-285750" algn="just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loop closure unsolved for edge hardware</a:t>
            </a:r>
          </a:p>
          <a:p>
            <a:pPr marL="285750" indent="-285750" algn="just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49.5% ATE improvement achievable with correct preprocessing</a:t>
            </a:r>
          </a:p>
        </p:txBody>
      </p:sp>
      <p:sp>
        <p:nvSpPr>
          <p:cNvPr id="6" name="Shape 9">
            <a:extLst>
              <a:ext uri="{FF2B5EF4-FFF2-40B4-BE49-F238E27FC236}">
                <a16:creationId xmlns:a16="http://schemas.microsoft.com/office/drawing/2014/main" id="{574A10D6-6BFC-0A6B-A215-48F635CA9C0F}"/>
              </a:ext>
            </a:extLst>
          </p:cNvPr>
          <p:cNvSpPr/>
          <p:nvPr/>
        </p:nvSpPr>
        <p:spPr>
          <a:xfrm>
            <a:off x="0" y="4961494"/>
            <a:ext cx="12204584" cy="97376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FFAF70E2-A1BD-395B-46CE-1C390BCE4275}"/>
              </a:ext>
            </a:extLst>
          </p:cNvPr>
          <p:cNvSpPr/>
          <p:nvPr/>
        </p:nvSpPr>
        <p:spPr>
          <a:xfrm>
            <a:off x="737872" y="4961494"/>
            <a:ext cx="10728839" cy="9737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Contribution: First benchmark of monochromatic-specific CLAHE preprocessing + CNN vs ViT loop closure descriptors for monocular SLAM on edge hardware</a:t>
            </a:r>
            <a:endParaRPr lang="en-US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7728EE5F-077A-5C7B-627E-5F9CB91E8A07}"/>
              </a:ext>
            </a:extLst>
          </p:cNvPr>
          <p:cNvSpPr/>
          <p:nvPr/>
        </p:nvSpPr>
        <p:spPr>
          <a:xfrm>
            <a:off x="838200" y="1478414"/>
            <a:ext cx="5251508" cy="6367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/>
              <a:t>Problem Statement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5D00BCC-E326-3BB0-D3CF-A60BC7E1B5F8}"/>
              </a:ext>
            </a:extLst>
          </p:cNvPr>
          <p:cNvSpPr/>
          <p:nvPr/>
        </p:nvSpPr>
        <p:spPr>
          <a:xfrm>
            <a:off x="6558347" y="1569153"/>
            <a:ext cx="4908364" cy="5459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/>
              <a:t>Why It Matters</a:t>
            </a:r>
          </a:p>
        </p:txBody>
      </p:sp>
    </p:spTree>
    <p:extLst>
      <p:ext uri="{BB962C8B-B14F-4D97-AF65-F5344CB8AC3E}">
        <p14:creationId xmlns:p14="http://schemas.microsoft.com/office/powerpoint/2010/main" val="2879032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507F4-FF46-BEBE-B99A-8FF69E603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7168"/>
            <a:ext cx="10515600" cy="1325563"/>
          </a:xfrm>
        </p:spPr>
        <p:txBody>
          <a:bodyPr/>
          <a:lstStyle/>
          <a:p>
            <a:pPr algn="ctr"/>
            <a:r>
              <a:rPr lang="en-IN" b="1" dirty="0"/>
              <a:t>Literature Survey and Gap Analysis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425C15AB-6542-58A2-EE56-05943837E935}"/>
              </a:ext>
            </a:extLst>
          </p:cNvPr>
          <p:cNvSpPr/>
          <p:nvPr/>
        </p:nvSpPr>
        <p:spPr>
          <a:xfrm>
            <a:off x="838200" y="1539731"/>
            <a:ext cx="2515906" cy="713385"/>
          </a:xfrm>
          <a:prstGeom prst="rect">
            <a:avLst/>
          </a:prstGeom>
          <a:solidFill>
            <a:srgbClr val="1F3864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BEAF8405-10DE-E989-7DFD-7D0CF7DE5571}"/>
              </a:ext>
            </a:extLst>
          </p:cNvPr>
          <p:cNvSpPr/>
          <p:nvPr/>
        </p:nvSpPr>
        <p:spPr>
          <a:xfrm>
            <a:off x="838200" y="1578782"/>
            <a:ext cx="1645920" cy="513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600" dirty="0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E89EBAA9-A0C9-F404-C6DB-492D41BE22CD}"/>
              </a:ext>
            </a:extLst>
          </p:cNvPr>
          <p:cNvSpPr/>
          <p:nvPr/>
        </p:nvSpPr>
        <p:spPr>
          <a:xfrm>
            <a:off x="2484120" y="1539731"/>
            <a:ext cx="1467612" cy="713385"/>
          </a:xfrm>
          <a:prstGeom prst="rect">
            <a:avLst/>
          </a:prstGeom>
          <a:solidFill>
            <a:srgbClr val="1F3864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1FA3E510-AEE8-6DD9-DDB8-1A512F2DE53F}"/>
              </a:ext>
            </a:extLst>
          </p:cNvPr>
          <p:cNvSpPr/>
          <p:nvPr/>
        </p:nvSpPr>
        <p:spPr>
          <a:xfrm>
            <a:off x="2484121" y="1578782"/>
            <a:ext cx="924848" cy="513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600" dirty="0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B9816E59-2BF6-849D-38A1-5D9BD34A5BD5}"/>
              </a:ext>
            </a:extLst>
          </p:cNvPr>
          <p:cNvSpPr/>
          <p:nvPr/>
        </p:nvSpPr>
        <p:spPr>
          <a:xfrm>
            <a:off x="3444239" y="1539732"/>
            <a:ext cx="3017521" cy="566927"/>
          </a:xfrm>
          <a:prstGeom prst="rect">
            <a:avLst/>
          </a:prstGeom>
          <a:solidFill>
            <a:srgbClr val="1F3864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DC95113B-1181-5DB5-5972-12904F18B71B}"/>
              </a:ext>
            </a:extLst>
          </p:cNvPr>
          <p:cNvSpPr/>
          <p:nvPr/>
        </p:nvSpPr>
        <p:spPr>
          <a:xfrm>
            <a:off x="3463832" y="1578782"/>
            <a:ext cx="2997928" cy="513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600" dirty="0"/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C456CE70-7877-94CB-7BE7-373131DA7E2C}"/>
              </a:ext>
            </a:extLst>
          </p:cNvPr>
          <p:cNvSpPr/>
          <p:nvPr/>
        </p:nvSpPr>
        <p:spPr>
          <a:xfrm>
            <a:off x="6461760" y="1539731"/>
            <a:ext cx="4892040" cy="713385"/>
          </a:xfrm>
          <a:prstGeom prst="rect">
            <a:avLst/>
          </a:prstGeom>
          <a:solidFill>
            <a:srgbClr val="1F3864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1E4CB29C-C329-297E-3843-839DD758F526}"/>
              </a:ext>
            </a:extLst>
          </p:cNvPr>
          <p:cNvSpPr/>
          <p:nvPr/>
        </p:nvSpPr>
        <p:spPr>
          <a:xfrm>
            <a:off x="6461761" y="1578781"/>
            <a:ext cx="4892040" cy="5278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Identified</a:t>
            </a:r>
            <a:endParaRPr lang="en-US" sz="1600" dirty="0"/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A8D5D3E3-A42F-6A70-83C7-0A8C4A140860}"/>
              </a:ext>
            </a:extLst>
          </p:cNvPr>
          <p:cNvSpPr/>
          <p:nvPr/>
        </p:nvSpPr>
        <p:spPr>
          <a:xfrm>
            <a:off x="838200" y="2106660"/>
            <a:ext cx="251590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0D1ECF97-92E0-142D-95DA-C19E8B9F336F}"/>
              </a:ext>
            </a:extLst>
          </p:cNvPr>
          <p:cNvSpPr/>
          <p:nvPr/>
        </p:nvSpPr>
        <p:spPr>
          <a:xfrm>
            <a:off x="893064" y="2145709"/>
            <a:ext cx="1555786" cy="519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et al., 2021</a:t>
            </a:r>
            <a:endParaRPr lang="en-US" sz="1200" dirty="0"/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12434AAD-DC1B-93D4-6D64-D4440E66A648}"/>
              </a:ext>
            </a:extLst>
          </p:cNvPr>
          <p:cNvSpPr/>
          <p:nvPr/>
        </p:nvSpPr>
        <p:spPr>
          <a:xfrm>
            <a:off x="2484120" y="2106659"/>
            <a:ext cx="1467612" cy="67433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129BB2B0-9536-7867-527F-5592D9DF273B}"/>
              </a:ext>
            </a:extLst>
          </p:cNvPr>
          <p:cNvSpPr/>
          <p:nvPr/>
        </p:nvSpPr>
        <p:spPr>
          <a:xfrm>
            <a:off x="2484119" y="2145710"/>
            <a:ext cx="960119" cy="5362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ORB-SLAM3</a:t>
            </a:r>
            <a:endParaRPr lang="en-US" sz="1200" dirty="0"/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F7E3FAFE-0DD2-AD84-11E0-5123DD5B2E58}"/>
              </a:ext>
            </a:extLst>
          </p:cNvPr>
          <p:cNvSpPr/>
          <p:nvPr/>
        </p:nvSpPr>
        <p:spPr>
          <a:xfrm>
            <a:off x="3444239" y="2106659"/>
            <a:ext cx="4612495" cy="71338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AE3CBB73-639E-48C3-1A52-68FC14C0BC93}"/>
              </a:ext>
            </a:extLst>
          </p:cNvPr>
          <p:cNvSpPr/>
          <p:nvPr/>
        </p:nvSpPr>
        <p:spPr>
          <a:xfrm>
            <a:off x="3499104" y="2145709"/>
            <a:ext cx="2962655" cy="5278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Multi-map monocular SLAM, DBoW2 loop closure</a:t>
            </a:r>
            <a:endParaRPr lang="en-US" sz="1200" dirty="0"/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83FCB2A9-6890-B9F8-3865-02D96742947B}"/>
              </a:ext>
            </a:extLst>
          </p:cNvPr>
          <p:cNvSpPr/>
          <p:nvPr/>
        </p:nvSpPr>
        <p:spPr>
          <a:xfrm>
            <a:off x="6461760" y="2106659"/>
            <a:ext cx="4892040" cy="605977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9" name="Text 19">
            <a:extLst>
              <a:ext uri="{FF2B5EF4-FFF2-40B4-BE49-F238E27FC236}">
                <a16:creationId xmlns:a16="http://schemas.microsoft.com/office/drawing/2014/main" id="{FCDC7654-F30C-5E45-CF13-87D316FB8105}"/>
              </a:ext>
            </a:extLst>
          </p:cNvPr>
          <p:cNvSpPr/>
          <p:nvPr/>
        </p:nvSpPr>
        <p:spPr>
          <a:xfrm>
            <a:off x="6516623" y="2145710"/>
            <a:ext cx="4752267" cy="513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greyscale; fragile loop closure in aliased environments</a:t>
            </a:r>
            <a:endParaRPr lang="en-US" sz="1200" dirty="0"/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AF184ED7-643A-DACF-F461-7C968C47A519}"/>
              </a:ext>
            </a:extLst>
          </p:cNvPr>
          <p:cNvSpPr/>
          <p:nvPr/>
        </p:nvSpPr>
        <p:spPr>
          <a:xfrm>
            <a:off x="838200" y="2673588"/>
            <a:ext cx="1645919" cy="552978"/>
          </a:xfrm>
          <a:prstGeom prst="rect">
            <a:avLst/>
          </a:prstGeom>
          <a:solidFill>
            <a:srgbClr val="EBF2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DCF92EE7-4E70-CEC6-0F92-B2073A91E1C6}"/>
              </a:ext>
            </a:extLst>
          </p:cNvPr>
          <p:cNvSpPr/>
          <p:nvPr/>
        </p:nvSpPr>
        <p:spPr>
          <a:xfrm>
            <a:off x="893064" y="2712638"/>
            <a:ext cx="1555786" cy="5222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Arandjelovic et al., 2016</a:t>
            </a:r>
            <a:endParaRPr lang="en-US" sz="1200" dirty="0"/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AE449634-905D-D0BC-56BC-1B84C30A9BA6}"/>
              </a:ext>
            </a:extLst>
          </p:cNvPr>
          <p:cNvSpPr/>
          <p:nvPr/>
        </p:nvSpPr>
        <p:spPr>
          <a:xfrm>
            <a:off x="2484120" y="2673587"/>
            <a:ext cx="1467612" cy="713385"/>
          </a:xfrm>
          <a:prstGeom prst="rect">
            <a:avLst/>
          </a:prstGeom>
          <a:solidFill>
            <a:srgbClr val="EBF2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3" name="Text 23">
            <a:extLst>
              <a:ext uri="{FF2B5EF4-FFF2-40B4-BE49-F238E27FC236}">
                <a16:creationId xmlns:a16="http://schemas.microsoft.com/office/drawing/2014/main" id="{61BA5746-1B3C-7B8D-499B-8671BC21A9B2}"/>
              </a:ext>
            </a:extLst>
          </p:cNvPr>
          <p:cNvSpPr/>
          <p:nvPr/>
        </p:nvSpPr>
        <p:spPr>
          <a:xfrm>
            <a:off x="2484119" y="2712638"/>
            <a:ext cx="960119" cy="530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NetVLAD</a:t>
            </a:r>
            <a:endParaRPr lang="en-US" sz="1200" dirty="0"/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F29BA3D7-8DA3-B05E-D823-00038A8529AD}"/>
              </a:ext>
            </a:extLst>
          </p:cNvPr>
          <p:cNvSpPr/>
          <p:nvPr/>
        </p:nvSpPr>
        <p:spPr>
          <a:xfrm>
            <a:off x="3444239" y="2673587"/>
            <a:ext cx="4612495" cy="713385"/>
          </a:xfrm>
          <a:prstGeom prst="rect">
            <a:avLst/>
          </a:prstGeom>
          <a:solidFill>
            <a:srgbClr val="EBF2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5" name="Text 25">
            <a:extLst>
              <a:ext uri="{FF2B5EF4-FFF2-40B4-BE49-F238E27FC236}">
                <a16:creationId xmlns:a16="http://schemas.microsoft.com/office/drawing/2014/main" id="{F1716B93-4304-723C-F088-F9C3C8BE4AF7}"/>
              </a:ext>
            </a:extLst>
          </p:cNvPr>
          <p:cNvSpPr/>
          <p:nvPr/>
        </p:nvSpPr>
        <p:spPr>
          <a:xfrm>
            <a:off x="3499104" y="2712638"/>
            <a:ext cx="2962655" cy="530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place recognition using VLAD aggregation</a:t>
            </a:r>
            <a:endParaRPr lang="en-US" sz="1200" dirty="0"/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D333DBDD-A12A-D207-5210-5ED22A6B8196}"/>
              </a:ext>
            </a:extLst>
          </p:cNvPr>
          <p:cNvSpPr/>
          <p:nvPr/>
        </p:nvSpPr>
        <p:spPr>
          <a:xfrm>
            <a:off x="6461760" y="2673587"/>
            <a:ext cx="4892040" cy="713385"/>
          </a:xfrm>
          <a:prstGeom prst="rect">
            <a:avLst/>
          </a:prstGeom>
          <a:solidFill>
            <a:srgbClr val="EBF2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7" name="Text 27">
            <a:extLst>
              <a:ext uri="{FF2B5EF4-FFF2-40B4-BE49-F238E27FC236}">
                <a16:creationId xmlns:a16="http://schemas.microsoft.com/office/drawing/2014/main" id="{D7995C9A-27BC-F5D2-A6E3-4419CBF54F0C}"/>
              </a:ext>
            </a:extLst>
          </p:cNvPr>
          <p:cNvSpPr/>
          <p:nvPr/>
        </p:nvSpPr>
        <p:spPr>
          <a:xfrm>
            <a:off x="6516623" y="2712637"/>
            <a:ext cx="4752267" cy="5278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 monochromatic sensors; edge latency unknown</a:t>
            </a:r>
            <a:endParaRPr lang="en-US" sz="1200" dirty="0"/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AC980222-7BB0-B46E-42A4-6F0461E4E8EA}"/>
              </a:ext>
            </a:extLst>
          </p:cNvPr>
          <p:cNvSpPr/>
          <p:nvPr/>
        </p:nvSpPr>
        <p:spPr>
          <a:xfrm>
            <a:off x="838200" y="3240515"/>
            <a:ext cx="2515906" cy="71338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9" name="Text 29">
            <a:extLst>
              <a:ext uri="{FF2B5EF4-FFF2-40B4-BE49-F238E27FC236}">
                <a16:creationId xmlns:a16="http://schemas.microsoft.com/office/drawing/2014/main" id="{F23767CF-FBA0-93B7-BF0D-0CC9B890100B}"/>
              </a:ext>
            </a:extLst>
          </p:cNvPr>
          <p:cNvSpPr/>
          <p:nvPr/>
        </p:nvSpPr>
        <p:spPr>
          <a:xfrm>
            <a:off x="893064" y="3279566"/>
            <a:ext cx="1555786" cy="513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Caron et al., 2021</a:t>
            </a:r>
            <a:endParaRPr lang="en-US" sz="1200" dirty="0"/>
          </a:p>
        </p:txBody>
      </p:sp>
      <p:sp>
        <p:nvSpPr>
          <p:cNvPr id="30" name="Shape 30">
            <a:extLst>
              <a:ext uri="{FF2B5EF4-FFF2-40B4-BE49-F238E27FC236}">
                <a16:creationId xmlns:a16="http://schemas.microsoft.com/office/drawing/2014/main" id="{ADF3C7EA-A023-E3DB-7657-9FDA9B7B54B8}"/>
              </a:ext>
            </a:extLst>
          </p:cNvPr>
          <p:cNvSpPr/>
          <p:nvPr/>
        </p:nvSpPr>
        <p:spPr>
          <a:xfrm>
            <a:off x="2484120" y="3240515"/>
            <a:ext cx="1467612" cy="71338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1" name="Text 31">
            <a:extLst>
              <a:ext uri="{FF2B5EF4-FFF2-40B4-BE49-F238E27FC236}">
                <a16:creationId xmlns:a16="http://schemas.microsoft.com/office/drawing/2014/main" id="{4474B8B1-37B1-70AF-9506-D9E5B62CB6D8}"/>
              </a:ext>
            </a:extLst>
          </p:cNvPr>
          <p:cNvSpPr/>
          <p:nvPr/>
        </p:nvSpPr>
        <p:spPr>
          <a:xfrm>
            <a:off x="2484119" y="3279566"/>
            <a:ext cx="960119" cy="4748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 ViT</a:t>
            </a:r>
            <a:endParaRPr lang="en-US" sz="1200" dirty="0"/>
          </a:p>
        </p:txBody>
      </p:sp>
      <p:sp>
        <p:nvSpPr>
          <p:cNvPr id="32" name="Shape 32">
            <a:extLst>
              <a:ext uri="{FF2B5EF4-FFF2-40B4-BE49-F238E27FC236}">
                <a16:creationId xmlns:a16="http://schemas.microsoft.com/office/drawing/2014/main" id="{1C33DD5E-7531-225C-1C82-6A2B61F0CBBA}"/>
              </a:ext>
            </a:extLst>
          </p:cNvPr>
          <p:cNvSpPr/>
          <p:nvPr/>
        </p:nvSpPr>
        <p:spPr>
          <a:xfrm>
            <a:off x="3444239" y="3240515"/>
            <a:ext cx="4612495" cy="71338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3" name="Text 33">
            <a:extLst>
              <a:ext uri="{FF2B5EF4-FFF2-40B4-BE49-F238E27FC236}">
                <a16:creationId xmlns:a16="http://schemas.microsoft.com/office/drawing/2014/main" id="{4208B26D-E153-2D29-9D6C-06E25390D74A}"/>
              </a:ext>
            </a:extLst>
          </p:cNvPr>
          <p:cNvSpPr/>
          <p:nvPr/>
        </p:nvSpPr>
        <p:spPr>
          <a:xfrm>
            <a:off x="3499104" y="3279565"/>
            <a:ext cx="2932609" cy="4888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ViT with global semantic features</a:t>
            </a:r>
            <a:endParaRPr lang="en-US" sz="1200" dirty="0"/>
          </a:p>
        </p:txBody>
      </p:sp>
      <p:sp>
        <p:nvSpPr>
          <p:cNvPr id="34" name="Shape 34">
            <a:extLst>
              <a:ext uri="{FF2B5EF4-FFF2-40B4-BE49-F238E27FC236}">
                <a16:creationId xmlns:a16="http://schemas.microsoft.com/office/drawing/2014/main" id="{1E7F7C8C-5ED4-EE64-E7C1-FD36A5CE48B9}"/>
              </a:ext>
            </a:extLst>
          </p:cNvPr>
          <p:cNvSpPr/>
          <p:nvPr/>
        </p:nvSpPr>
        <p:spPr>
          <a:xfrm>
            <a:off x="6461760" y="3240515"/>
            <a:ext cx="4892040" cy="71338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5" name="Text 35">
            <a:extLst>
              <a:ext uri="{FF2B5EF4-FFF2-40B4-BE49-F238E27FC236}">
                <a16:creationId xmlns:a16="http://schemas.microsoft.com/office/drawing/2014/main" id="{93E1DCA3-ACA8-8696-0B1B-562260125FC4}"/>
              </a:ext>
            </a:extLst>
          </p:cNvPr>
          <p:cNvSpPr/>
          <p:nvPr/>
        </p:nvSpPr>
        <p:spPr>
          <a:xfrm>
            <a:off x="6516623" y="3279566"/>
            <a:ext cx="4752267" cy="5222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integrated into SLAM thread; no edge benchmark</a:t>
            </a:r>
            <a:endParaRPr lang="en-US" sz="1200" dirty="0"/>
          </a:p>
        </p:txBody>
      </p:sp>
      <p:sp>
        <p:nvSpPr>
          <p:cNvPr id="36" name="Shape 36">
            <a:extLst>
              <a:ext uri="{FF2B5EF4-FFF2-40B4-BE49-F238E27FC236}">
                <a16:creationId xmlns:a16="http://schemas.microsoft.com/office/drawing/2014/main" id="{F031CD90-BE1D-6234-44A5-1227B7B12A6B}"/>
              </a:ext>
            </a:extLst>
          </p:cNvPr>
          <p:cNvSpPr/>
          <p:nvPr/>
        </p:nvSpPr>
        <p:spPr>
          <a:xfrm>
            <a:off x="838200" y="3807443"/>
            <a:ext cx="2515906" cy="713385"/>
          </a:xfrm>
          <a:prstGeom prst="rect">
            <a:avLst/>
          </a:prstGeom>
          <a:solidFill>
            <a:srgbClr val="EBF2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7" name="Text 37">
            <a:extLst>
              <a:ext uri="{FF2B5EF4-FFF2-40B4-BE49-F238E27FC236}">
                <a16:creationId xmlns:a16="http://schemas.microsoft.com/office/drawing/2014/main" id="{02E26692-03E2-DC64-208B-2158BAB8CCFB}"/>
              </a:ext>
            </a:extLst>
          </p:cNvPr>
          <p:cNvSpPr/>
          <p:nvPr/>
        </p:nvSpPr>
        <p:spPr>
          <a:xfrm>
            <a:off x="893064" y="3846493"/>
            <a:ext cx="1591055" cy="519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Engel et al., 2018</a:t>
            </a:r>
            <a:endParaRPr lang="en-US" sz="1200" dirty="0"/>
          </a:p>
        </p:txBody>
      </p:sp>
      <p:sp>
        <p:nvSpPr>
          <p:cNvPr id="38" name="Shape 38">
            <a:extLst>
              <a:ext uri="{FF2B5EF4-FFF2-40B4-BE49-F238E27FC236}">
                <a16:creationId xmlns:a16="http://schemas.microsoft.com/office/drawing/2014/main" id="{F82D5293-A463-B144-A7C1-CBC372CC6EB8}"/>
              </a:ext>
            </a:extLst>
          </p:cNvPr>
          <p:cNvSpPr/>
          <p:nvPr/>
        </p:nvSpPr>
        <p:spPr>
          <a:xfrm>
            <a:off x="2484120" y="3807443"/>
            <a:ext cx="960118" cy="558563"/>
          </a:xfrm>
          <a:prstGeom prst="rect">
            <a:avLst/>
          </a:prstGeom>
          <a:solidFill>
            <a:srgbClr val="EBF2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9" name="Text 39">
            <a:extLst>
              <a:ext uri="{FF2B5EF4-FFF2-40B4-BE49-F238E27FC236}">
                <a16:creationId xmlns:a16="http://schemas.microsoft.com/office/drawing/2014/main" id="{00432FC7-BAB6-A55D-5FDB-9A3CC04FA615}"/>
              </a:ext>
            </a:extLst>
          </p:cNvPr>
          <p:cNvSpPr/>
          <p:nvPr/>
        </p:nvSpPr>
        <p:spPr>
          <a:xfrm>
            <a:off x="2538984" y="3846494"/>
            <a:ext cx="869986" cy="5278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DSO</a:t>
            </a:r>
            <a:endParaRPr lang="en-US" sz="1200" dirty="0"/>
          </a:p>
        </p:txBody>
      </p:sp>
      <p:sp>
        <p:nvSpPr>
          <p:cNvPr id="40" name="Shape 40">
            <a:extLst>
              <a:ext uri="{FF2B5EF4-FFF2-40B4-BE49-F238E27FC236}">
                <a16:creationId xmlns:a16="http://schemas.microsoft.com/office/drawing/2014/main" id="{F620D0F9-4807-A368-9BAA-E0D1F613AF09}"/>
              </a:ext>
            </a:extLst>
          </p:cNvPr>
          <p:cNvSpPr/>
          <p:nvPr/>
        </p:nvSpPr>
        <p:spPr>
          <a:xfrm>
            <a:off x="3444239" y="3807443"/>
            <a:ext cx="4612495" cy="566927"/>
          </a:xfrm>
          <a:prstGeom prst="rect">
            <a:avLst/>
          </a:prstGeom>
          <a:solidFill>
            <a:srgbClr val="EBF2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1" name="Text 41">
            <a:extLst>
              <a:ext uri="{FF2B5EF4-FFF2-40B4-BE49-F238E27FC236}">
                <a16:creationId xmlns:a16="http://schemas.microsoft.com/office/drawing/2014/main" id="{7FD71403-587C-68DF-448B-9E60D9EC71A6}"/>
              </a:ext>
            </a:extLst>
          </p:cNvPr>
          <p:cNvSpPr/>
          <p:nvPr/>
        </p:nvSpPr>
        <p:spPr>
          <a:xfrm>
            <a:off x="3499104" y="3846493"/>
            <a:ext cx="2962655" cy="5278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photometric odometry, no feature extraction</a:t>
            </a:r>
            <a:endParaRPr lang="en-US" sz="1200" dirty="0"/>
          </a:p>
        </p:txBody>
      </p:sp>
      <p:sp>
        <p:nvSpPr>
          <p:cNvPr id="42" name="Shape 42">
            <a:extLst>
              <a:ext uri="{FF2B5EF4-FFF2-40B4-BE49-F238E27FC236}">
                <a16:creationId xmlns:a16="http://schemas.microsoft.com/office/drawing/2014/main" id="{2BA96246-27A3-D2C3-97C2-1F044F6D329F}"/>
              </a:ext>
            </a:extLst>
          </p:cNvPr>
          <p:cNvSpPr/>
          <p:nvPr/>
        </p:nvSpPr>
        <p:spPr>
          <a:xfrm>
            <a:off x="6461760" y="3807443"/>
            <a:ext cx="4892040" cy="713385"/>
          </a:xfrm>
          <a:prstGeom prst="rect">
            <a:avLst/>
          </a:prstGeom>
          <a:solidFill>
            <a:srgbClr val="EBF2FA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3" name="Text 43">
            <a:extLst>
              <a:ext uri="{FF2B5EF4-FFF2-40B4-BE49-F238E27FC236}">
                <a16:creationId xmlns:a16="http://schemas.microsoft.com/office/drawing/2014/main" id="{AF9BAF63-BD32-0E2C-0D0B-E2EE121BB33F}"/>
              </a:ext>
            </a:extLst>
          </p:cNvPr>
          <p:cNvSpPr/>
          <p:nvPr/>
        </p:nvSpPr>
        <p:spPr>
          <a:xfrm>
            <a:off x="6516623" y="3846493"/>
            <a:ext cx="4752267" cy="5278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on low-contrast monochromatic imagery</a:t>
            </a:r>
            <a:endParaRPr lang="en-US" sz="1200" dirty="0"/>
          </a:p>
        </p:txBody>
      </p:sp>
      <p:sp>
        <p:nvSpPr>
          <p:cNvPr id="44" name="Shape 44">
            <a:extLst>
              <a:ext uri="{FF2B5EF4-FFF2-40B4-BE49-F238E27FC236}">
                <a16:creationId xmlns:a16="http://schemas.microsoft.com/office/drawing/2014/main" id="{21FEF03B-606C-8BAD-4A4D-28D52EEE3B84}"/>
              </a:ext>
            </a:extLst>
          </p:cNvPr>
          <p:cNvSpPr/>
          <p:nvPr/>
        </p:nvSpPr>
        <p:spPr>
          <a:xfrm>
            <a:off x="838200" y="4374371"/>
            <a:ext cx="2515906" cy="71338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5" name="Text 45">
            <a:extLst>
              <a:ext uri="{FF2B5EF4-FFF2-40B4-BE49-F238E27FC236}">
                <a16:creationId xmlns:a16="http://schemas.microsoft.com/office/drawing/2014/main" id="{09917C78-7EE0-AA12-13CF-67BE59ECB055}"/>
              </a:ext>
            </a:extLst>
          </p:cNvPr>
          <p:cNvSpPr/>
          <p:nvPr/>
        </p:nvSpPr>
        <p:spPr>
          <a:xfrm>
            <a:off x="893064" y="4413421"/>
            <a:ext cx="1555786" cy="621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Keetha et al., 2023</a:t>
            </a:r>
            <a:endParaRPr lang="en-US" sz="1200" dirty="0"/>
          </a:p>
        </p:txBody>
      </p:sp>
      <p:sp>
        <p:nvSpPr>
          <p:cNvPr id="46" name="Shape 46">
            <a:extLst>
              <a:ext uri="{FF2B5EF4-FFF2-40B4-BE49-F238E27FC236}">
                <a16:creationId xmlns:a16="http://schemas.microsoft.com/office/drawing/2014/main" id="{BEE09BF7-D532-8EDB-E4B4-4ED0337DC226}"/>
              </a:ext>
            </a:extLst>
          </p:cNvPr>
          <p:cNvSpPr/>
          <p:nvPr/>
        </p:nvSpPr>
        <p:spPr>
          <a:xfrm>
            <a:off x="2484120" y="4374371"/>
            <a:ext cx="1467612" cy="71338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7" name="Text 47">
            <a:extLst>
              <a:ext uri="{FF2B5EF4-FFF2-40B4-BE49-F238E27FC236}">
                <a16:creationId xmlns:a16="http://schemas.microsoft.com/office/drawing/2014/main" id="{406C5B47-AD24-790C-11B1-6C8938EC6830}"/>
              </a:ext>
            </a:extLst>
          </p:cNvPr>
          <p:cNvSpPr/>
          <p:nvPr/>
        </p:nvSpPr>
        <p:spPr>
          <a:xfrm>
            <a:off x="2538983" y="4413421"/>
            <a:ext cx="850393" cy="621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AnyLoc</a:t>
            </a:r>
            <a:endParaRPr lang="en-US" sz="1200" dirty="0"/>
          </a:p>
        </p:txBody>
      </p:sp>
      <p:sp>
        <p:nvSpPr>
          <p:cNvPr id="48" name="Shape 48">
            <a:extLst>
              <a:ext uri="{FF2B5EF4-FFF2-40B4-BE49-F238E27FC236}">
                <a16:creationId xmlns:a16="http://schemas.microsoft.com/office/drawing/2014/main" id="{8DA4686C-2D78-3472-C0D8-D0668D25338E}"/>
              </a:ext>
            </a:extLst>
          </p:cNvPr>
          <p:cNvSpPr/>
          <p:nvPr/>
        </p:nvSpPr>
        <p:spPr>
          <a:xfrm>
            <a:off x="3444239" y="4374371"/>
            <a:ext cx="4612495" cy="71338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49" name="Text 49">
            <a:extLst>
              <a:ext uri="{FF2B5EF4-FFF2-40B4-BE49-F238E27FC236}">
                <a16:creationId xmlns:a16="http://schemas.microsoft.com/office/drawing/2014/main" id="{C0D6BF0B-0FEC-1935-FBC2-47F560D992C0}"/>
              </a:ext>
            </a:extLst>
          </p:cNvPr>
          <p:cNvSpPr/>
          <p:nvPr/>
        </p:nvSpPr>
        <p:spPr>
          <a:xfrm>
            <a:off x="3424645" y="4413421"/>
            <a:ext cx="3037115" cy="621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place recognition using DINOv2 + VLAD</a:t>
            </a:r>
            <a:endParaRPr lang="en-US" sz="1200" dirty="0"/>
          </a:p>
        </p:txBody>
      </p:sp>
      <p:sp>
        <p:nvSpPr>
          <p:cNvPr id="50" name="Shape 50">
            <a:extLst>
              <a:ext uri="{FF2B5EF4-FFF2-40B4-BE49-F238E27FC236}">
                <a16:creationId xmlns:a16="http://schemas.microsoft.com/office/drawing/2014/main" id="{9FE1B5EC-15CA-F97F-1194-49D342C295B7}"/>
              </a:ext>
            </a:extLst>
          </p:cNvPr>
          <p:cNvSpPr/>
          <p:nvPr/>
        </p:nvSpPr>
        <p:spPr>
          <a:xfrm>
            <a:off x="6461760" y="4374371"/>
            <a:ext cx="4892040" cy="71338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1" name="Text 51">
            <a:extLst>
              <a:ext uri="{FF2B5EF4-FFF2-40B4-BE49-F238E27FC236}">
                <a16:creationId xmlns:a16="http://schemas.microsoft.com/office/drawing/2014/main" id="{C11E9722-7D8C-15B8-2090-E9844AD9A475}"/>
              </a:ext>
            </a:extLst>
          </p:cNvPr>
          <p:cNvSpPr/>
          <p:nvPr/>
        </p:nvSpPr>
        <p:spPr>
          <a:xfrm>
            <a:off x="6516623" y="4413421"/>
            <a:ext cx="4752267" cy="6213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only — not integrated into SLAM</a:t>
            </a:r>
            <a:endParaRPr lang="en-US" sz="1200" dirty="0"/>
          </a:p>
        </p:txBody>
      </p:sp>
      <p:sp>
        <p:nvSpPr>
          <p:cNvPr id="52" name="Shape 52">
            <a:extLst>
              <a:ext uri="{FF2B5EF4-FFF2-40B4-BE49-F238E27FC236}">
                <a16:creationId xmlns:a16="http://schemas.microsoft.com/office/drawing/2014/main" id="{36184ECB-5E07-2425-6898-C2E545B14437}"/>
              </a:ext>
            </a:extLst>
          </p:cNvPr>
          <p:cNvSpPr/>
          <p:nvPr/>
        </p:nvSpPr>
        <p:spPr>
          <a:xfrm>
            <a:off x="838200" y="5082171"/>
            <a:ext cx="10515600" cy="871305"/>
          </a:xfrm>
          <a:prstGeom prst="rect">
            <a:avLst/>
          </a:prstGeom>
          <a:solidFill>
            <a:srgbClr val="2E4A9E"/>
          </a:solidFill>
          <a:ln w="12700">
            <a:solidFill>
              <a:srgbClr val="2E4A9E"/>
            </a:solidFill>
            <a:prstDash val="solid"/>
          </a:ln>
        </p:spPr>
      </p:sp>
      <p:sp>
        <p:nvSpPr>
          <p:cNvPr id="53" name="Text 53">
            <a:extLst>
              <a:ext uri="{FF2B5EF4-FFF2-40B4-BE49-F238E27FC236}">
                <a16:creationId xmlns:a16="http://schemas.microsoft.com/office/drawing/2014/main" id="{D468FD2E-FDBB-D31D-6927-2076B39B23F3}"/>
              </a:ext>
            </a:extLst>
          </p:cNvPr>
          <p:cNvSpPr/>
          <p:nvPr/>
        </p:nvSpPr>
        <p:spPr>
          <a:xfrm>
            <a:off x="1109398" y="5220572"/>
            <a:ext cx="9973203" cy="5753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Identified Gaps: (1) Naive greyscale for mono sensors  (2) No mono-specific SLAM benchmark  (3) No CNN vs ViT loop closure edge comparison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7676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3DAE6-F9EC-A048-1BE9-6444E5033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6441"/>
            <a:ext cx="10515600" cy="1325563"/>
          </a:xfrm>
        </p:spPr>
        <p:txBody>
          <a:bodyPr/>
          <a:lstStyle/>
          <a:p>
            <a:pPr algn="ctr"/>
            <a:r>
              <a:rPr lang="en-IN" b="1" dirty="0"/>
              <a:t>Research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B728C-3FA4-B023-EF62-5554FB4C3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2004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US" sz="2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and validate baseline ORB-SLAM3 monocular SLAM in ROS/Gazebo — 526 KFs, 38,653 map points confirmed.</a:t>
            </a:r>
            <a:r>
              <a:rPr lang="en-US" sz="2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[Completed]</a:t>
            </a:r>
            <a:endParaRPr lang="en-US" sz="2200" b="1" dirty="0"/>
          </a:p>
          <a:p>
            <a:pPr algn="just"/>
            <a:r>
              <a:rPr lang="en-US" sz="2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monochromatic-specific CLAHE preprocessing ROS node replacing naive greyscale conversion. </a:t>
            </a:r>
            <a:r>
              <a:rPr lang="en-US" sz="2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[Completed]</a:t>
            </a:r>
            <a:endParaRPr lang="en-US" sz="2200" dirty="0"/>
          </a:p>
          <a:p>
            <a:pPr algn="just"/>
            <a:r>
              <a:rPr lang="en-US" sz="2400" dirty="0"/>
              <a:t>Build a CNN-based loop closure module and evaluate descriptor quality and inference latency.</a:t>
            </a:r>
            <a:r>
              <a:rPr lang="en-US" sz="2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[Completed]</a:t>
            </a:r>
            <a:endParaRPr lang="en-US" sz="2200" dirty="0"/>
          </a:p>
          <a:p>
            <a:pPr algn="just"/>
            <a:r>
              <a:rPr lang="en-US" sz="2400" dirty="0"/>
              <a:t>Evaluate DINO-</a:t>
            </a:r>
            <a:r>
              <a:rPr lang="en-US" sz="2400" dirty="0" err="1"/>
              <a:t>ViT</a:t>
            </a:r>
            <a:r>
              <a:rPr lang="en-US" sz="2400" dirty="0"/>
              <a:t> loop closure module as alternate descriptor. </a:t>
            </a:r>
            <a:r>
              <a:rPr lang="en-US" sz="2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[Completed]</a:t>
            </a:r>
            <a:endParaRPr lang="en-US" sz="2200" dirty="0"/>
          </a:p>
          <a:p>
            <a:pPr algn="just"/>
            <a:r>
              <a:rPr lang="en-US" sz="2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on TUM fr1/desk and fr2/</a:t>
            </a:r>
            <a:r>
              <a:rPr lang="en-US" sz="2200" dirty="0" err="1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xyz</a:t>
            </a:r>
            <a:r>
              <a:rPr lang="en-US" sz="2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ATE and RPE metrics. </a:t>
            </a:r>
            <a:r>
              <a:rPr lang="en-US" sz="2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[Completed]</a:t>
            </a:r>
            <a:endParaRPr lang="en-US" sz="22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just"/>
            <a:r>
              <a:rPr lang="en-US" sz="2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best pipeline on NVIDIA Jetson Orin Nano for edge evaluation. [Future Work]</a:t>
            </a:r>
            <a:endParaRPr lang="en-US" sz="22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055564-B987-5B8E-89B9-648D60B53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38400" y="6263752"/>
            <a:ext cx="7315200" cy="365125"/>
          </a:xfrm>
        </p:spPr>
        <p:txBody>
          <a:bodyPr/>
          <a:lstStyle/>
          <a:p>
            <a:r>
              <a:rPr lang="en-US" dirty="0"/>
              <a:t>All timings measured on: Intel i7 12th Gen · NVIDIA RTX 3060 · CUDA 12.1 · Ubuntu 20.04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3322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9C456-9D05-5670-5314-1BB5CC40C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System Architecture and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F2AA0-6FF0-F127-3CF7-62B0533D4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29099"/>
            <a:ext cx="10515600" cy="3047863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Baseline - </a:t>
            </a:r>
            <a:r>
              <a:rPr lang="en-US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ORB-SLAM3 + ROS + Gazebo. Critical fix: </a:t>
            </a:r>
            <a:r>
              <a:rPr lang="en-US" dirty="0" err="1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cv_bridge</a:t>
            </a:r>
            <a:r>
              <a:rPr lang="en-US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rebuilt vs OpenCV 4.4 (silent image corruption). 526 KFs, 38k map points.</a:t>
            </a:r>
            <a:endParaRPr lang="en-US" dirty="0"/>
          </a:p>
          <a:p>
            <a:pPr algn="just"/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CLAHE + Loop Closure - </a:t>
            </a:r>
            <a:r>
              <a:rPr lang="en-US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CLAHE: </a:t>
            </a:r>
            <a:r>
              <a:rPr lang="en-US" dirty="0" err="1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clipLimit</a:t>
            </a:r>
            <a:r>
              <a:rPr lang="en-US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=2.0, tile=8×8. ResNet18: 512-d, τ=0.85, 1.5ms. DINO </a:t>
            </a:r>
            <a:r>
              <a:rPr lang="en-US" dirty="0" err="1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</a:t>
            </a:r>
            <a:r>
              <a:rPr lang="en-US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384-d [CLS], 18.2ms.</a:t>
            </a:r>
            <a:endParaRPr lang="en-US" dirty="0"/>
          </a:p>
          <a:p>
            <a:pPr algn="just"/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TUM Evaluation - </a:t>
            </a:r>
            <a:r>
              <a:rPr lang="en-US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ATE/RPE on fr1/desk and fr2/</a:t>
            </a:r>
            <a:r>
              <a:rPr lang="en-US" dirty="0" err="1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xyz</a:t>
            </a:r>
            <a:r>
              <a:rPr lang="en-US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IN" dirty="0"/>
              <a:t>CLAHE: ATE 0.0155m vs baseline 0.0307m on TUM fr1/desk (ORB-SLAM3 default)</a:t>
            </a:r>
            <a:endParaRPr lang="en-US" dirty="0"/>
          </a:p>
          <a:p>
            <a:pPr algn="just"/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Edge Deployment - </a:t>
            </a:r>
            <a:r>
              <a:rPr lang="en-US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Jetson Orin Nano. Accuracy vs latency tradeoff across all descriptors.</a:t>
            </a:r>
            <a:endParaRPr lang="en-US" dirty="0"/>
          </a:p>
          <a:p>
            <a:pPr algn="just"/>
            <a:endParaRPr lang="en-IN" b="1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50859B3C-023A-3E1D-8320-F4435F8A872D}"/>
              </a:ext>
            </a:extLst>
          </p:cNvPr>
          <p:cNvSpPr/>
          <p:nvPr/>
        </p:nvSpPr>
        <p:spPr>
          <a:xfrm>
            <a:off x="2158678" y="1690688"/>
            <a:ext cx="1422144" cy="1017788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7634FB58-E6EF-C870-B5EB-5502DF7F0946}"/>
              </a:ext>
            </a:extLst>
          </p:cNvPr>
          <p:cNvSpPr/>
          <p:nvPr/>
        </p:nvSpPr>
        <p:spPr>
          <a:xfrm>
            <a:off x="2158678" y="1690688"/>
            <a:ext cx="1422144" cy="1017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Camera</a:t>
            </a:r>
            <a:endParaRPr lang="en-US" sz="1100" dirty="0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AC840677-8822-BAD2-760D-C44AAB0A6333}"/>
              </a:ext>
            </a:extLst>
          </p:cNvPr>
          <p:cNvSpPr/>
          <p:nvPr/>
        </p:nvSpPr>
        <p:spPr>
          <a:xfrm>
            <a:off x="3607818" y="2111311"/>
            <a:ext cx="128452" cy="81423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F9086BCD-384F-A097-B8F1-9A27BF2D2530}"/>
              </a:ext>
            </a:extLst>
          </p:cNvPr>
          <p:cNvSpPr/>
          <p:nvPr/>
        </p:nvSpPr>
        <p:spPr>
          <a:xfrm>
            <a:off x="3758878" y="1690688"/>
            <a:ext cx="1422144" cy="101778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607C6454-A0F6-24D1-1529-92E669B1B18A}"/>
              </a:ext>
            </a:extLst>
          </p:cNvPr>
          <p:cNvSpPr/>
          <p:nvPr/>
        </p:nvSpPr>
        <p:spPr>
          <a:xfrm>
            <a:off x="3758878" y="1690688"/>
            <a:ext cx="1422144" cy="1017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★</a:t>
            </a:r>
            <a:endParaRPr lang="en-US" sz="1100" dirty="0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D06BB1A6-9AE7-4E2F-A528-3286D5F6C289}"/>
              </a:ext>
            </a:extLst>
          </p:cNvPr>
          <p:cNvSpPr/>
          <p:nvPr/>
        </p:nvSpPr>
        <p:spPr>
          <a:xfrm>
            <a:off x="5208018" y="2111311"/>
            <a:ext cx="128452" cy="81423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128AC2CB-EEF0-9E87-8A5E-88B9B5CD883A}"/>
              </a:ext>
            </a:extLst>
          </p:cNvPr>
          <p:cNvSpPr/>
          <p:nvPr/>
        </p:nvSpPr>
        <p:spPr>
          <a:xfrm>
            <a:off x="5359078" y="1690688"/>
            <a:ext cx="1422144" cy="101778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rgbClr val="2E4A9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1F2FF0C6-4310-800F-3359-44A03E9EC55D}"/>
              </a:ext>
            </a:extLst>
          </p:cNvPr>
          <p:cNvSpPr/>
          <p:nvPr/>
        </p:nvSpPr>
        <p:spPr>
          <a:xfrm>
            <a:off x="5359078" y="1690688"/>
            <a:ext cx="1422144" cy="1017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ORB-SLAM3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Monocular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100" dirty="0"/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0BB7787B-61EE-25F6-7565-B7D3D2CB70D9}"/>
              </a:ext>
            </a:extLst>
          </p:cNvPr>
          <p:cNvSpPr/>
          <p:nvPr/>
        </p:nvSpPr>
        <p:spPr>
          <a:xfrm>
            <a:off x="6808218" y="2111311"/>
            <a:ext cx="128452" cy="81423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5D0C2B8A-AFC1-AFE2-825F-2C999678F692}"/>
              </a:ext>
            </a:extLst>
          </p:cNvPr>
          <p:cNvSpPr/>
          <p:nvPr/>
        </p:nvSpPr>
        <p:spPr>
          <a:xfrm>
            <a:off x="6959278" y="1690688"/>
            <a:ext cx="1422144" cy="101778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EE64747F-EDD1-5418-4C59-6155B333E2F3}"/>
              </a:ext>
            </a:extLst>
          </p:cNvPr>
          <p:cNvSpPr/>
          <p:nvPr/>
        </p:nvSpPr>
        <p:spPr>
          <a:xfrm>
            <a:off x="6959278" y="1690688"/>
            <a:ext cx="1422144" cy="1017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 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 ViT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Closure ★</a:t>
            </a:r>
            <a:endParaRPr lang="en-US" sz="1100" dirty="0"/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37952D7B-9E65-4547-7B85-54FCFAB62B3C}"/>
              </a:ext>
            </a:extLst>
          </p:cNvPr>
          <p:cNvSpPr/>
          <p:nvPr/>
        </p:nvSpPr>
        <p:spPr>
          <a:xfrm>
            <a:off x="8408418" y="2111311"/>
            <a:ext cx="128452" cy="81423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56E3BF70-DD2A-0193-4912-6BBB83058F57}"/>
              </a:ext>
            </a:extLst>
          </p:cNvPr>
          <p:cNvSpPr/>
          <p:nvPr/>
        </p:nvSpPr>
        <p:spPr>
          <a:xfrm>
            <a:off x="8559478" y="1690688"/>
            <a:ext cx="1422144" cy="1017788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28079C8B-E41A-E7B6-386F-0142C352B24B}"/>
              </a:ext>
            </a:extLst>
          </p:cNvPr>
          <p:cNvSpPr/>
          <p:nvPr/>
        </p:nvSpPr>
        <p:spPr>
          <a:xfrm>
            <a:off x="8559478" y="1690688"/>
            <a:ext cx="1422144" cy="1017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Map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35676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1000A-E865-9706-EA68-59CB3A45B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6480B-278B-320C-BC1C-C5CA0EEB1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4406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Ubuntu 20.04 + ROS Noetic - </a:t>
            </a:r>
            <a:r>
              <a:rPr lang="en-US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and middleware. ROS provides the publish-subscribe pipeline connecting all nodes asynchronously.</a:t>
            </a:r>
            <a:endParaRPr lang="en-US" b="1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just"/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Gazebo 11 - </a:t>
            </a:r>
            <a:r>
              <a:rPr lang="en-US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robot simulation environment. Publishes realistic ROS camera messages identical in format to a real sensor.</a:t>
            </a:r>
            <a:endParaRPr lang="en-US" dirty="0"/>
          </a:p>
          <a:p>
            <a:pPr algn="just"/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ORB-SLAM3 - </a:t>
            </a:r>
            <a:r>
              <a:rPr lang="en-US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monocular SLAM backbone — ORB features, pose estimation, sparse mapping, DBoW2 loop closure.</a:t>
            </a:r>
            <a:endParaRPr lang="en-US" dirty="0"/>
          </a:p>
          <a:p>
            <a:pPr algn="just"/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OpenCV 4.4.0 - </a:t>
            </a:r>
            <a:r>
              <a:rPr lang="en-US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 built from source. CLAHE applied via cv2.createCLAHE(). Rebuilt </a:t>
            </a:r>
            <a:r>
              <a:rPr lang="en-US" dirty="0" err="1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cv_bridge</a:t>
            </a:r>
            <a:r>
              <a:rPr lang="en-US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compatibility.</a:t>
            </a:r>
            <a:endParaRPr lang="en-US" dirty="0"/>
          </a:p>
          <a:p>
            <a:pPr algn="just"/>
            <a:r>
              <a:rPr lang="en-US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2.4.1 + CUDA 12.1 - </a:t>
            </a:r>
            <a:r>
              <a:rPr lang="en-US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inference for ResNet18 and DINO </a:t>
            </a:r>
            <a:r>
              <a:rPr lang="en-US" dirty="0" err="1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</a:t>
            </a:r>
            <a:r>
              <a:rPr lang="en-US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descriptor extraction on NVIDIA RTX 3060.</a:t>
            </a:r>
            <a:endParaRPr lang="en-US" dirty="0"/>
          </a:p>
          <a:p>
            <a:pPr algn="just"/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TUM RGB-D Benchmark + evo - </a:t>
            </a:r>
            <a:r>
              <a:rPr lang="en-US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SLAM evaluation dataset with motion capture ground truth. evo computes ATE and RPE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954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6D6F7-1A87-0826-EA76-49F936005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Results and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C4CDF8-2B67-FDB1-B5C1-CA58266CB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0" y="2803907"/>
            <a:ext cx="5157787" cy="823912"/>
          </a:xfrm>
        </p:spPr>
        <p:txBody>
          <a:bodyPr/>
          <a:lstStyle/>
          <a:p>
            <a:pPr algn="ctr"/>
            <a:r>
              <a:rPr lang="en-IN" dirty="0"/>
              <a:t>ATE/RPE Results – TUM Benchmark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C7E63A4-7073-AB5E-D64F-51E3A65239F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18622191"/>
              </p:ext>
            </p:extLst>
          </p:nvPr>
        </p:nvGraphicFramePr>
        <p:xfrm>
          <a:off x="836612" y="3627819"/>
          <a:ext cx="5157785" cy="2270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1557">
                  <a:extLst>
                    <a:ext uri="{9D8B030D-6E8A-4147-A177-3AD203B41FA5}">
                      <a16:colId xmlns:a16="http://schemas.microsoft.com/office/drawing/2014/main" val="3714224969"/>
                    </a:ext>
                  </a:extLst>
                </a:gridCol>
                <a:gridCol w="1031557">
                  <a:extLst>
                    <a:ext uri="{9D8B030D-6E8A-4147-A177-3AD203B41FA5}">
                      <a16:colId xmlns:a16="http://schemas.microsoft.com/office/drawing/2014/main" val="4288084276"/>
                    </a:ext>
                  </a:extLst>
                </a:gridCol>
                <a:gridCol w="1031557">
                  <a:extLst>
                    <a:ext uri="{9D8B030D-6E8A-4147-A177-3AD203B41FA5}">
                      <a16:colId xmlns:a16="http://schemas.microsoft.com/office/drawing/2014/main" val="2386380876"/>
                    </a:ext>
                  </a:extLst>
                </a:gridCol>
                <a:gridCol w="1031557">
                  <a:extLst>
                    <a:ext uri="{9D8B030D-6E8A-4147-A177-3AD203B41FA5}">
                      <a16:colId xmlns:a16="http://schemas.microsoft.com/office/drawing/2014/main" val="2511490855"/>
                    </a:ext>
                  </a:extLst>
                </a:gridCol>
                <a:gridCol w="1031557">
                  <a:extLst>
                    <a:ext uri="{9D8B030D-6E8A-4147-A177-3AD203B41FA5}">
                      <a16:colId xmlns:a16="http://schemas.microsoft.com/office/drawing/2014/main" val="6715647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ATE RMSE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RPE RMSE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508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fr1/desk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0.0307 m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0.0142 m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3630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fr1/desk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CLAHE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0.0155 m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0.0144 m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 49.5%</a:t>
                      </a:r>
                      <a:endParaRPr 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5875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fr2/</a:t>
                      </a:r>
                      <a:r>
                        <a:rPr lang="en-US" sz="1600" dirty="0" err="1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xyz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0.0027 m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0.0055 m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935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fr2/</a:t>
                      </a:r>
                      <a:r>
                        <a:rPr lang="en-US" sz="1600" dirty="0" err="1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xyz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CLAHE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0.0031 m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0.0054 m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Marginal</a:t>
                      </a:r>
                      <a:endParaRPr lang="en-US" sz="1600" dirty="0"/>
                    </a:p>
                    <a:p>
                      <a:pPr algn="ctr"/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4034231"/>
                  </a:ext>
                </a:extLst>
              </a:tr>
            </a:tbl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65B64F-D476-A7EE-4ADA-F3BA1FA3F0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803907"/>
            <a:ext cx="5183188" cy="823912"/>
          </a:xfrm>
        </p:spPr>
        <p:txBody>
          <a:bodyPr/>
          <a:lstStyle/>
          <a:p>
            <a:pPr algn="ctr"/>
            <a:r>
              <a:rPr lang="en-IN" dirty="0"/>
              <a:t>Descriptor </a:t>
            </a:r>
            <a:r>
              <a:rPr lang="en-IN" dirty="0" err="1"/>
              <a:t>Comparision</a:t>
            </a:r>
            <a:endParaRPr lang="en-IN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95805818-A2AF-7524-C9DF-863AC324F406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78117908"/>
              </p:ext>
            </p:extLst>
          </p:nvPr>
        </p:nvGraphicFramePr>
        <p:xfrm>
          <a:off x="6172200" y="3627819"/>
          <a:ext cx="5183188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4291">
                  <a:extLst>
                    <a:ext uri="{9D8B030D-6E8A-4147-A177-3AD203B41FA5}">
                      <a16:colId xmlns:a16="http://schemas.microsoft.com/office/drawing/2014/main" val="2275216879"/>
                    </a:ext>
                  </a:extLst>
                </a:gridCol>
                <a:gridCol w="1082233">
                  <a:extLst>
                    <a:ext uri="{9D8B030D-6E8A-4147-A177-3AD203B41FA5}">
                      <a16:colId xmlns:a16="http://schemas.microsoft.com/office/drawing/2014/main" val="2468161633"/>
                    </a:ext>
                  </a:extLst>
                </a:gridCol>
                <a:gridCol w="1076446">
                  <a:extLst>
                    <a:ext uri="{9D8B030D-6E8A-4147-A177-3AD203B41FA5}">
                      <a16:colId xmlns:a16="http://schemas.microsoft.com/office/drawing/2014/main" val="4075203585"/>
                    </a:ext>
                  </a:extLst>
                </a:gridCol>
                <a:gridCol w="1100218">
                  <a:extLst>
                    <a:ext uri="{9D8B030D-6E8A-4147-A177-3AD203B41FA5}">
                      <a16:colId xmlns:a16="http://schemas.microsoft.com/office/drawing/2014/main" val="41335339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Descriptor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 Score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51802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DBoW2 (default)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 </a:t>
                      </a:r>
                      <a:r>
                        <a:rPr lang="en-US" sz="1600" dirty="0" err="1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310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ResNet18 (CNN)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 </a:t>
                      </a:r>
                      <a:r>
                        <a:rPr lang="en-US" sz="1600" dirty="0" err="1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0.96–0.99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0039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DINO </a:t>
                      </a:r>
                      <a:r>
                        <a:rPr lang="en-US" sz="1600" dirty="0" err="1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</a:t>
                      </a:r>
                      <a:r>
                        <a:rPr lang="en-US" sz="16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-S/8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 </a:t>
                      </a:r>
                      <a:r>
                        <a:rPr lang="en-US" sz="1600" dirty="0" err="1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0.90–0.93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Marginal</a:t>
                      </a:r>
                      <a:endParaRPr lang="en-US" sz="1600" dirty="0"/>
                    </a:p>
                    <a:p>
                      <a:pPr algn="ctr"/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40500"/>
                  </a:ext>
                </a:extLst>
              </a:tr>
            </a:tbl>
          </a:graphicData>
        </a:graphic>
      </p:graphicFrame>
      <p:sp>
        <p:nvSpPr>
          <p:cNvPr id="9" name="Shape 4">
            <a:extLst>
              <a:ext uri="{FF2B5EF4-FFF2-40B4-BE49-F238E27FC236}">
                <a16:creationId xmlns:a16="http://schemas.microsoft.com/office/drawing/2014/main" id="{1AE9089C-A336-98DA-6163-13323047D68D}"/>
              </a:ext>
            </a:extLst>
          </p:cNvPr>
          <p:cNvSpPr/>
          <p:nvPr/>
        </p:nvSpPr>
        <p:spPr>
          <a:xfrm>
            <a:off x="1964223" y="1656747"/>
            <a:ext cx="1628789" cy="1147159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238448B6-C922-8FCA-5ECE-9A62839D42AE}"/>
              </a:ext>
            </a:extLst>
          </p:cNvPr>
          <p:cNvSpPr/>
          <p:nvPr/>
        </p:nvSpPr>
        <p:spPr>
          <a:xfrm>
            <a:off x="1964223" y="1684179"/>
            <a:ext cx="1628789" cy="5433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526</a:t>
            </a:r>
            <a:endParaRPr lang="en-US" sz="22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D23A0114-61B5-0CE2-2A9A-9552B79FAAEF}"/>
              </a:ext>
            </a:extLst>
          </p:cNvPr>
          <p:cNvSpPr/>
          <p:nvPr/>
        </p:nvSpPr>
        <p:spPr>
          <a:xfrm>
            <a:off x="1964223" y="2095659"/>
            <a:ext cx="1628789" cy="5071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Keyframes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8644FC5D-BC5C-B79A-B356-CBC3CCE3C056}"/>
              </a:ext>
            </a:extLst>
          </p:cNvPr>
          <p:cNvSpPr/>
          <p:nvPr/>
        </p:nvSpPr>
        <p:spPr>
          <a:xfrm>
            <a:off x="3683295" y="1656747"/>
            <a:ext cx="1628789" cy="1147159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D0F6D1AE-BA02-1AA3-1D35-1252E26E1629}"/>
              </a:ext>
            </a:extLst>
          </p:cNvPr>
          <p:cNvSpPr/>
          <p:nvPr/>
        </p:nvSpPr>
        <p:spPr>
          <a:xfrm>
            <a:off x="3683295" y="1684179"/>
            <a:ext cx="1628789" cy="5433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38,653</a:t>
            </a:r>
            <a:endParaRPr lang="en-US" sz="22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A90DCF5D-5156-F1BB-3020-6D8E9DC2FBD8}"/>
              </a:ext>
            </a:extLst>
          </p:cNvPr>
          <p:cNvSpPr/>
          <p:nvPr/>
        </p:nvSpPr>
        <p:spPr>
          <a:xfrm>
            <a:off x="3683295" y="2095659"/>
            <a:ext cx="1628789" cy="5071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Points</a:t>
            </a:r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4DB1B190-BEC0-EA4A-2FF5-F047D3FF0D9B}"/>
              </a:ext>
            </a:extLst>
          </p:cNvPr>
          <p:cNvSpPr/>
          <p:nvPr/>
        </p:nvSpPr>
        <p:spPr>
          <a:xfrm>
            <a:off x="5402367" y="1656747"/>
            <a:ext cx="1628789" cy="1147159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CFD17441-E1FA-D9A2-258A-4D3ADE5BBCC2}"/>
              </a:ext>
            </a:extLst>
          </p:cNvPr>
          <p:cNvSpPr/>
          <p:nvPr/>
        </p:nvSpPr>
        <p:spPr>
          <a:xfrm>
            <a:off x="5402367" y="1684179"/>
            <a:ext cx="1628789" cy="5433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49.5%</a:t>
            </a:r>
            <a:endParaRPr lang="en-US" sz="220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45A77084-0FBA-AFA2-2F7D-6156A016D36E}"/>
              </a:ext>
            </a:extLst>
          </p:cNvPr>
          <p:cNvSpPr/>
          <p:nvPr/>
        </p:nvSpPr>
        <p:spPr>
          <a:xfrm>
            <a:off x="5404974" y="2175070"/>
            <a:ext cx="1628789" cy="5071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algn="ctr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 Reduction</a:t>
            </a:r>
          </a:p>
          <a:p>
            <a:pPr indent="0" algn="ctr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(fr1/desk)</a:t>
            </a:r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51C86533-9486-7681-A87C-9E3C11782AC6}"/>
              </a:ext>
            </a:extLst>
          </p:cNvPr>
          <p:cNvSpPr/>
          <p:nvPr/>
        </p:nvSpPr>
        <p:spPr>
          <a:xfrm>
            <a:off x="7118832" y="1656747"/>
            <a:ext cx="1628789" cy="1147159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6C61E0E1-C8C5-57C7-3DC3-52B7AD41BADA}"/>
              </a:ext>
            </a:extLst>
          </p:cNvPr>
          <p:cNvSpPr/>
          <p:nvPr/>
        </p:nvSpPr>
        <p:spPr>
          <a:xfrm>
            <a:off x="7121439" y="1684179"/>
            <a:ext cx="1628789" cy="5433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1.5ms</a:t>
            </a:r>
            <a:endParaRPr lang="en-US" sz="220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D41CB2E6-02F4-BAA4-AF03-F41E68522166}"/>
              </a:ext>
            </a:extLst>
          </p:cNvPr>
          <p:cNvSpPr/>
          <p:nvPr/>
        </p:nvSpPr>
        <p:spPr>
          <a:xfrm>
            <a:off x="7116225" y="2175069"/>
            <a:ext cx="1628789" cy="5071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</a:p>
        </p:txBody>
      </p:sp>
      <p:sp>
        <p:nvSpPr>
          <p:cNvPr id="21" name="Shape 16">
            <a:extLst>
              <a:ext uri="{FF2B5EF4-FFF2-40B4-BE49-F238E27FC236}">
                <a16:creationId xmlns:a16="http://schemas.microsoft.com/office/drawing/2014/main" id="{6EDF5C12-9E7F-B4E4-128A-A361904E6467}"/>
              </a:ext>
            </a:extLst>
          </p:cNvPr>
          <p:cNvSpPr/>
          <p:nvPr/>
        </p:nvSpPr>
        <p:spPr>
          <a:xfrm>
            <a:off x="8840511" y="1653990"/>
            <a:ext cx="1628789" cy="1147159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6BF16733-E7E2-0E49-35CA-BFD47D3C5C2E}"/>
              </a:ext>
            </a:extLst>
          </p:cNvPr>
          <p:cNvSpPr/>
          <p:nvPr/>
        </p:nvSpPr>
        <p:spPr>
          <a:xfrm>
            <a:off x="8840511" y="1684179"/>
            <a:ext cx="1628789" cy="5433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18.2ms</a:t>
            </a:r>
            <a:endParaRPr lang="en-US" sz="2200" dirty="0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F5CDBF6C-92BF-5DE2-3D6F-28F8F03C129D}"/>
              </a:ext>
            </a:extLst>
          </p:cNvPr>
          <p:cNvSpPr/>
          <p:nvPr/>
        </p:nvSpPr>
        <p:spPr>
          <a:xfrm>
            <a:off x="8840511" y="2175069"/>
            <a:ext cx="1628789" cy="5071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 </a:t>
            </a:r>
            <a:r>
              <a:rPr lang="en-US" sz="16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</a:t>
            </a:r>
            <a:endParaRPr lang="en-US" sz="16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</a:p>
        </p:txBody>
      </p:sp>
    </p:spTree>
    <p:extLst>
      <p:ext uri="{BB962C8B-B14F-4D97-AF65-F5344CB8AC3E}">
        <p14:creationId xmlns:p14="http://schemas.microsoft.com/office/powerpoint/2010/main" val="3885561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B9129-A621-4FBF-BC96-B9FA28D30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9EB4A-7F5E-C7E7-FB49-0FA2C98E54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3909631"/>
          </a:xfrm>
        </p:spPr>
        <p:txBody>
          <a:bodyPr>
            <a:normAutofit/>
          </a:bodyPr>
          <a:lstStyle/>
          <a:p>
            <a:pPr algn="just">
              <a:spcBef>
                <a:spcPts val="400"/>
              </a:spcBef>
            </a:pPr>
            <a:r>
              <a:rPr lang="en-US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preprocessing reduces ATE by 49.5% on TUM fr1/desk — sensor-aware preprocessing measurably improves SLAM accuracy</a:t>
            </a:r>
            <a:endParaRPr lang="en-US" dirty="0"/>
          </a:p>
          <a:p>
            <a:pPr algn="just">
              <a:spcBef>
                <a:spcPts val="400"/>
              </a:spcBef>
            </a:pPr>
            <a:r>
              <a:rPr lang="en-US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 (1.5ms/frame) confirmed viable for real-time edge deployment; DINO </a:t>
            </a:r>
            <a:r>
              <a:rPr lang="en-US" dirty="0" err="1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</a:t>
            </a:r>
            <a:r>
              <a:rPr lang="en-US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offers stronger semantics at higher cost (18.2ms)</a:t>
            </a:r>
            <a:endParaRPr lang="en-US" dirty="0"/>
          </a:p>
          <a:p>
            <a:pPr algn="just">
              <a:spcBef>
                <a:spcPts val="400"/>
              </a:spcBef>
            </a:pPr>
            <a:r>
              <a:rPr lang="en-US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loop closure modules working — integration into ORB-SLAM3 pose graph is the primary Phase 2 objective</a:t>
            </a:r>
            <a:endParaRPr lang="en-US" dirty="0"/>
          </a:p>
          <a:p>
            <a:pPr algn="just">
              <a:spcBef>
                <a:spcPts val="400"/>
              </a:spcBef>
            </a:pPr>
            <a:r>
              <a:rPr lang="en-US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code, results, and documentation </a:t>
            </a:r>
            <a:r>
              <a:rPr lang="en-US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github.com/anishb12/6th_Sem_SLAMNAV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4068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2BC51-30EB-4DC7-5BBC-7EB759D61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Future Scope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A66C44-688A-C0CC-8E5F-1353F7AB5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algn="just">
              <a:spcBef>
                <a:spcPts val="400"/>
              </a:spcBef>
            </a:pPr>
            <a:r>
              <a:rPr lang="en-US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loop closure candidates into ORB-SLAM3 C++ LoopClosing.cc pose graph </a:t>
            </a:r>
            <a:r>
              <a:rPr lang="en-US" dirty="0" err="1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endParaRPr lang="en-US" dirty="0"/>
          </a:p>
          <a:p>
            <a:pPr algn="just">
              <a:spcBef>
                <a:spcPts val="400"/>
              </a:spcBef>
            </a:pPr>
            <a:r>
              <a:rPr lang="en-US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EfficientNet-B0 as third descriptor — better accuracy than ResNet18 at half the parameters (as suggested)</a:t>
            </a:r>
            <a:endParaRPr lang="en-US" dirty="0"/>
          </a:p>
          <a:p>
            <a:pPr algn="just">
              <a:spcBef>
                <a:spcPts val="400"/>
              </a:spcBef>
            </a:pPr>
            <a:r>
              <a:rPr lang="en-US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 NVIDIA Jetson Orin Nano — measure FPS, ATE, and power on edge hardware</a:t>
            </a:r>
            <a:endParaRPr lang="en-US" dirty="0"/>
          </a:p>
          <a:p>
            <a:pPr algn="just">
              <a:spcBef>
                <a:spcPts val="400"/>
              </a:spcBef>
            </a:pPr>
            <a:r>
              <a:rPr lang="en-US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real monochromatic camera hardware; extend to TUM fr3 and KITTI sequences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900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F59D5-64A1-2A88-3CC0-396FB01A5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866CD-60D7-0B00-2A57-04749FFEE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US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C. Campos et al., "ORB-SLAM3," IEEE T-RO, vol. 37, no. 6, pp. 1874–1890, 2021.</a:t>
            </a:r>
            <a:endParaRPr lang="en-US" dirty="0"/>
          </a:p>
          <a:p>
            <a:pPr algn="just"/>
            <a:r>
              <a:rPr lang="en-US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R. </a:t>
            </a:r>
            <a:r>
              <a:rPr lang="en-US" dirty="0" err="1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Arandjelovic</a:t>
            </a:r>
            <a:r>
              <a:rPr lang="en-US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al., "</a:t>
            </a:r>
            <a:r>
              <a:rPr lang="en-US" dirty="0" err="1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NetVLAD</a:t>
            </a:r>
            <a:r>
              <a:rPr lang="en-US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," IEEE/CVF CVPR, 2016.</a:t>
            </a:r>
            <a:endParaRPr lang="en-US" dirty="0"/>
          </a:p>
          <a:p>
            <a:pPr algn="just"/>
            <a:r>
              <a:rPr lang="en-US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M. Caron et al., "DINO," IEEE/CVF ICCV, 2021.</a:t>
            </a:r>
            <a:endParaRPr lang="en-US" dirty="0"/>
          </a:p>
          <a:p>
            <a:pPr algn="just"/>
            <a:r>
              <a:rPr lang="en-US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J. Engel et al., "DSO," IEEE T-PAMI, vol. 40, no. 3, pp. 611–625, 2018.</a:t>
            </a:r>
            <a:endParaRPr lang="en-US" dirty="0"/>
          </a:p>
          <a:p>
            <a:pPr algn="just"/>
            <a:r>
              <a:rPr lang="en-US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N. Keetha et al., "</a:t>
            </a:r>
            <a:r>
              <a:rPr lang="en-US" dirty="0" err="1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AnyLoc</a:t>
            </a:r>
            <a:r>
              <a:rPr lang="en-US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," IEEE RA-L, 2024.</a:t>
            </a:r>
            <a:endParaRPr lang="en-US" dirty="0"/>
          </a:p>
          <a:p>
            <a:pPr algn="just"/>
            <a:r>
              <a:rPr lang="en-US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J. Sturm et al., "TUM RGB-D Benchmark," IROS, 2012.</a:t>
            </a:r>
            <a:endParaRPr lang="en-US" dirty="0"/>
          </a:p>
          <a:p>
            <a:pPr algn="just"/>
            <a:r>
              <a:rPr lang="en-US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K. He et al., "</a:t>
            </a:r>
            <a:r>
              <a:rPr lang="en-US" dirty="0" err="1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</a:t>
            </a:r>
            <a:r>
              <a:rPr lang="en-US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," IEEE/CVF CVPR, 2016.</a:t>
            </a:r>
            <a:endParaRPr lang="en-US" dirty="0"/>
          </a:p>
          <a:p>
            <a:pPr algn="just"/>
            <a:r>
              <a:rPr lang="en-US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S. Lowry et al., "Visual Place Recognition Survey," IEEE T-RO, vol. 32, no. 1, 2016.</a:t>
            </a:r>
          </a:p>
          <a:p>
            <a:pPr algn="just"/>
            <a:r>
              <a:rPr lang="en-US" dirty="0"/>
              <a:t>[9] Z. Teed and J. Deng, "DROID-SLAM," </a:t>
            </a:r>
            <a:r>
              <a:rPr lang="en-US" dirty="0" err="1"/>
              <a:t>NeurIPS</a:t>
            </a:r>
            <a:r>
              <a:rPr lang="en-US" dirty="0"/>
              <a:t>, 2021.</a:t>
            </a:r>
          </a:p>
          <a:p>
            <a:pPr algn="just"/>
            <a:r>
              <a:rPr lang="da-DK" dirty="0"/>
              <a:t>[10] Y. Wang et al., "EfficientNet for Embedded SLAM," PMLR, 2025. </a:t>
            </a:r>
            <a:endParaRPr lang="en-US" dirty="0"/>
          </a:p>
          <a:p>
            <a:pPr marL="0" indent="0" algn="just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0855329"/>
      </p:ext>
    </p:extLst>
  </p:cSld>
  <p:clrMapOvr>
    <a:masterClrMapping/>
  </p:clrMapOvr>
</p:sld>
</file>

<file path=ppt/theme/theme1.xml><?xml version="1.0" encoding="utf-8"?>
<a:theme xmlns:a="http://schemas.openxmlformats.org/drawingml/2006/main" name="nitte deemed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itte deemed theme" id="{360E6621-5E3E-4414-80FA-CFEC471C70B1}" vid="{414D16CA-093A-4723-874C-ABD6118A88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nitte deemed theme</Template>
  <TotalTime>112</TotalTime>
  <Words>1332</Words>
  <Application>Microsoft Office PowerPoint</Application>
  <PresentationFormat>Widescreen</PresentationFormat>
  <Paragraphs>182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ADLaM Display</vt:lpstr>
      <vt:lpstr>Aptos Black</vt:lpstr>
      <vt:lpstr>Arial</vt:lpstr>
      <vt:lpstr>Calibri</vt:lpstr>
      <vt:lpstr>Calibri Light</vt:lpstr>
      <vt:lpstr>Cambria</vt:lpstr>
      <vt:lpstr>Lucida Bright</vt:lpstr>
      <vt:lpstr>Tahoma</vt:lpstr>
      <vt:lpstr>Wingdings</vt:lpstr>
      <vt:lpstr>nitte deemed theme</vt:lpstr>
      <vt:lpstr>PowerPoint Presentation</vt:lpstr>
      <vt:lpstr>PowerPoint Presentation</vt:lpstr>
      <vt:lpstr>Background</vt:lpstr>
      <vt:lpstr>Problem Statement &amp; Challenges in Existing Approaches</vt:lpstr>
      <vt:lpstr>Literature Survey and Gap Analysis</vt:lpstr>
      <vt:lpstr>Research Objectives</vt:lpstr>
      <vt:lpstr>System Architecture and Methodology</vt:lpstr>
      <vt:lpstr>Technologies Used</vt:lpstr>
      <vt:lpstr>Results and Analysis</vt:lpstr>
      <vt:lpstr>Conclusion</vt:lpstr>
      <vt:lpstr>Future Scope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SHOBHA P</dc:creator>
  <cp:lastModifiedBy>Anish B</cp:lastModifiedBy>
  <cp:revision>9</cp:revision>
  <dcterms:created xsi:type="dcterms:W3CDTF">2025-05-10T10:17:47Z</dcterms:created>
  <dcterms:modified xsi:type="dcterms:W3CDTF">2026-06-01T08:09:15Z</dcterms:modified>
</cp:coreProperties>
</file>